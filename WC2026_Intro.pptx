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8" r:id="rId25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5143500" cx="9144000"/>
  <p:notesSz cx="51435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Int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Poppins-boldItalic.fntdata"/><Relationship Id="rId11" Type="http://schemas.openxmlformats.org/officeDocument/2006/relationships/slide" Target="slides/slide7.xml"/><Relationship Id="rId22" Type="http://schemas.openxmlformats.org/officeDocument/2006/relationships/font" Target="fonts/Inter-bold.fntdata"/><Relationship Id="rId10" Type="http://schemas.openxmlformats.org/officeDocument/2006/relationships/slide" Target="slides/slide6.xml"/><Relationship Id="rId21" Type="http://schemas.openxmlformats.org/officeDocument/2006/relationships/font" Target="fonts/Inter-regular.fntdata"/><Relationship Id="rId13" Type="http://schemas.openxmlformats.org/officeDocument/2006/relationships/slide" Target="slides/slide9.xml"/><Relationship Id="rId24" Type="http://schemas.openxmlformats.org/officeDocument/2006/relationships/font" Target="fonts/Inter-boldItalic.fntdata"/><Relationship Id="rId12" Type="http://schemas.openxmlformats.org/officeDocument/2006/relationships/slide" Target="slides/slide8.xml"/><Relationship Id="rId23" Type="http://schemas.openxmlformats.org/officeDocument/2006/relationships/font" Target="fonts/Inter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oppins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font" Target="fonts/Poppins-italic.fntdata"/><Relationship Id="rId6" Type="http://schemas.openxmlformats.org/officeDocument/2006/relationships/slide" Target="slides/slide2.xml"/><Relationship Id="rId18" Type="http://schemas.openxmlformats.org/officeDocument/2006/relationships/font" Target="fonts/Poppins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25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-ccNkksrfls" TargetMode="External"/><Relationship Id="rId4" Type="http://schemas.openxmlformats.org/officeDocument/2006/relationships/hyperlink" Target="https://www.youtube.com/watch?v=-ccNkksrfls" TargetMode="External"/><Relationship Id="rId5" Type="http://schemas.openxmlformats.org/officeDocument/2006/relationships/hyperlink" Target="https://www.youtube.com/watch?v=-ccNkksrfls" TargetMode="Externa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nxwAhTqy4y8" TargetMode="External"/><Relationship Id="rId4" Type="http://schemas.openxmlformats.org/officeDocument/2006/relationships/hyperlink" Target="https://www.youtube.com/watch?v=nxwAhTqy4y8" TargetMode="External"/><Relationship Id="rId5" Type="http://schemas.openxmlformats.org/officeDocument/2006/relationships/hyperlink" Target="https://www.youtube.com/watch?v=jdKKnClSWZg" TargetMode="External"/><Relationship Id="rId6" Type="http://schemas.openxmlformats.org/officeDocument/2006/relationships/hyperlink" Target="https://www.youtube.com/watch?v=jdKKnClSWZg" TargetMode="External"/><Relationship Id="rId7" Type="http://schemas.openxmlformats.org/officeDocument/2006/relationships/hyperlink" Target="https://www.youtube.com/watch?v=pc0FLC8H7D8" TargetMode="External"/><Relationship Id="rId8" Type="http://schemas.openxmlformats.org/officeDocument/2006/relationships/hyperlink" Target="https://www.youtube.com/watch?v=pc0FLC8H7D8" TargetMode="Externa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ED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1600200"/>
            <a:ext cx="82296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2026 Men's FIFA World Cup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69748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Inter"/>
              <a:buNone/>
            </a:pPr>
            <a:r>
              <a:rPr b="0" i="0" lang="en-US" sz="2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Welcome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3474720" y="3328416"/>
            <a:ext cx="2194560" cy="6400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Inter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June 11 – July 19,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57200" y="3977640"/>
            <a:ext cx="8229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USA · Canada · Mexico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History of the World Cup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411480" y="1078992"/>
            <a:ext cx="3886200" cy="384048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411480" y="1078992"/>
            <a:ext cx="3886200" cy="47548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576072" y="11521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Facts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502920" y="1645920"/>
            <a:ext cx="372160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548640" y="1773936"/>
            <a:ext cx="73152" cy="40233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85800" y="1682496"/>
            <a:ext cx="914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1930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645920" y="1792224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1737360" y="1682496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First tournament held in Uruguay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02920" y="2340864"/>
            <a:ext cx="3721608" cy="658368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548640" y="2468880"/>
            <a:ext cx="73152" cy="40233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4"/>
          <p:cNvSpPr/>
          <p:nvPr/>
        </p:nvSpPr>
        <p:spPr>
          <a:xfrm>
            <a:off x="685800" y="2377440"/>
            <a:ext cx="914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4 yrs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645920" y="2487168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1737360" y="2377440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Played every four years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02920" y="3035808"/>
            <a:ext cx="3721608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548640" y="3163824"/>
            <a:ext cx="73152" cy="40233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685800" y="3072384"/>
            <a:ext cx="914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8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645920" y="3182112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737360" y="3072384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Nations have ever won it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502920" y="3730752"/>
            <a:ext cx="3721608" cy="658368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548640" y="3858768"/>
            <a:ext cx="73152" cy="402336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685800" y="3767328"/>
            <a:ext cx="914400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800"/>
              <a:buFont typeface="Poppins"/>
              <a:buNone/>
            </a:pPr>
            <a:r>
              <a:rPr b="0" i="0" lang="en-US" sz="180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645920" y="3877056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737360" y="3767328"/>
            <a:ext cx="2395728" cy="6035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50"/>
              <a:buFont typeface="Inter"/>
              <a:buNone/>
            </a:pPr>
            <a:r>
              <a:rPr b="0" i="0" lang="en-US" sz="12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Winners lift the FIFA World Cup trophy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4572000" y="1078992"/>
            <a:ext cx="3886200" cy="3840480"/>
          </a:xfrm>
          <a:prstGeom prst="rect">
            <a:avLst/>
          </a:prstGeom>
          <a:solidFill>
            <a:srgbClr val="1A1A2E"/>
          </a:solidFill>
          <a:ln cap="flat" cmpd="sng" w="12700">
            <a:solidFill>
              <a:srgbClr val="333355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xciting-charming-faraday/mnt/wc26/WorldCupTrophy.jpeg" id="52" name="Google Shape;5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8364" y="1115568"/>
            <a:ext cx="2633472" cy="351129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/>
          <p:nvPr/>
        </p:nvSpPr>
        <p:spPr>
          <a:xfrm>
            <a:off x="4572000" y="4626864"/>
            <a:ext cx="3886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850"/>
              <a:buFont typeface="Inter"/>
              <a:buNone/>
            </a:pPr>
            <a:r>
              <a:rPr b="0" i="1" lang="en-US" sz="850" u="none" cap="none" strike="noStrike">
                <a:solidFill>
                  <a:srgbClr val="CCCCCC"/>
                </a:solidFill>
                <a:latin typeface="Inter"/>
                <a:ea typeface="Inter"/>
                <a:cs typeface="Inter"/>
                <a:sym typeface="Inter"/>
              </a:rPr>
              <a:t>FIFA World Cup Trophy · FIFA Museum, Zürich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A Personal Note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411480" y="1078992"/>
            <a:ext cx="2621280" cy="3931920"/>
          </a:xfrm>
          <a:prstGeom prst="rect">
            <a:avLst/>
          </a:prstGeom>
          <a:solidFill>
            <a:srgbClr val="FFF8EE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411480" y="1078992"/>
            <a:ext cx="2621280" cy="1737360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411480" y="1078992"/>
            <a:ext cx="262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200"/>
              <a:buFont typeface="Poppins"/>
              <a:buNone/>
            </a:pPr>
            <a:r>
              <a:rPr b="1" i="0" lang="en-US" sz="7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1986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76072" y="2962656"/>
            <a:ext cx="234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Fan since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76072" y="3319272"/>
            <a:ext cx="2292096" cy="1828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576072" y="3401568"/>
            <a:ext cx="234696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 xml:space="preserve">Watching every game of every tournament since Maradona helped Argentina win. </a:t>
            </a:r>
            <a:r>
              <a:rPr b="0" i="0" lang="en-US" sz="115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3"/>
              </a:rPr>
              <a:t>Hand of Go</a:t>
            </a:r>
            <a:r>
              <a:rPr lang="en-US" sz="11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d</a:t>
            </a:r>
            <a:r>
              <a:rPr lang="en-US" sz="1150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5"/>
              </a:rPr>
              <a:t xml:space="preserve"> goal</a:t>
            </a:r>
            <a:r>
              <a:rPr lang="en-US" sz="1150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 xml:space="preserve"> anyone?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3261360" y="1078992"/>
            <a:ext cx="2621280" cy="393192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3261360" y="1078992"/>
            <a:ext cx="2621280" cy="1737360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"/>
          <p:cNvSpPr/>
          <p:nvPr/>
        </p:nvSpPr>
        <p:spPr>
          <a:xfrm>
            <a:off x="3261360" y="1078992"/>
            <a:ext cx="262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Poppins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Jun 25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3425952" y="2962656"/>
            <a:ext cx="234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Seeing it live — first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425952" y="3319272"/>
            <a:ext cx="2292096" cy="1828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3425952" y="3401568"/>
            <a:ext cx="234696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Ivory Coast v Curaçao at the tournament.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6111240" y="1078992"/>
            <a:ext cx="2621280" cy="3931920"/>
          </a:xfrm>
          <a:prstGeom prst="rect">
            <a:avLst/>
          </a:prstGeom>
          <a:solidFill>
            <a:srgbClr val="1B2A3A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"/>
          <p:cNvSpPr/>
          <p:nvPr/>
        </p:nvSpPr>
        <p:spPr>
          <a:xfrm>
            <a:off x="6111240" y="1078992"/>
            <a:ext cx="2621280" cy="1737360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6111240" y="1078992"/>
            <a:ext cx="2621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800"/>
              <a:buFont typeface="Poppins"/>
              <a:buNone/>
            </a:pPr>
            <a:r>
              <a:rPr b="1" i="0" lang="en-US" sz="6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Spain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6275832" y="2962656"/>
            <a:ext cx="23469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My pick to win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6275832" y="3319272"/>
            <a:ext cx="2292096" cy="18288"/>
          </a:xfrm>
          <a:prstGeom prst="rect">
            <a:avLst/>
          </a:prstGeom>
          <a:solidFill>
            <a:srgbClr val="2E4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5"/>
          <p:cNvSpPr/>
          <p:nvPr/>
        </p:nvSpPr>
        <p:spPr>
          <a:xfrm>
            <a:off x="6275832" y="3401568"/>
            <a:ext cx="2346960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Also supporting the USA, any African team, and England. Maybe. Sorry, Brazil.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Famous World Cup Moments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411480" y="1042416"/>
            <a:ext cx="2633472" cy="3767328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411480" y="1042416"/>
            <a:ext cx="2633472" cy="47548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521208" y="1106424"/>
            <a:ext cx="621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1966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179576" y="1179576"/>
            <a:ext cx="18288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1271016" y="11064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Stolen Trophy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521208" y="1554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Pickles the Dog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521208" y="1883664"/>
            <a:ext cx="2414016" cy="1828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521208" y="1938528"/>
            <a:ext cx="2414016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Four months before England hosted the World Cup, the Jules Rimet trophy was stolen from a public exhibition. A dog named Pickles found it wrapped in newspaper under a hedge on a routine walk.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England won the tournament. Pickles received a medal, a year's supply of dog food, and a film role.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>
            <a:hlinkClick r:id="rId3"/>
          </p:cNvPr>
          <p:cNvSpPr/>
          <p:nvPr/>
        </p:nvSpPr>
        <p:spPr>
          <a:xfrm>
            <a:off x="521208" y="4462272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000"/>
              <a:buFont typeface="Inter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4"/>
              </a:rPr>
              <a:t>▶  YouTube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3259836" y="1042416"/>
            <a:ext cx="2633472" cy="3767328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3259836" y="1042416"/>
            <a:ext cx="2633472" cy="475488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3369564" y="1106424"/>
            <a:ext cx="621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1994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027932" y="1179576"/>
            <a:ext cx="18288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119372" y="11064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Open Goal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3369564" y="1554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Diana Ross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369564" y="1883664"/>
            <a:ext cx="2414016" cy="1828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3369564" y="1938528"/>
            <a:ext cx="2414016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The USA '94 opening ceremony featured Diana Ross taking a ceremonial penalty, with the goal rigged to split apart dramatically when she scored. She skied it wide from six yards.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The goal split apart anyway — on cue — to a ball nowhere near it. BBC: "I'm not sure that was supposed to happen."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>
            <a:hlinkClick r:id="rId5"/>
          </p:cNvPr>
          <p:cNvSpPr/>
          <p:nvPr/>
        </p:nvSpPr>
        <p:spPr>
          <a:xfrm>
            <a:off x="3369564" y="4462272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000"/>
              <a:buFont typeface="Inter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6"/>
              </a:rPr>
              <a:t>▶  YouTube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108192" y="1042416"/>
            <a:ext cx="2633472" cy="3767328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6"/>
          <p:cNvSpPr/>
          <p:nvPr/>
        </p:nvSpPr>
        <p:spPr>
          <a:xfrm>
            <a:off x="6108192" y="1042416"/>
            <a:ext cx="2633472" cy="47548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6217920" y="1106424"/>
            <a:ext cx="62179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2010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876288" y="1179576"/>
            <a:ext cx="18288" cy="201168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6"/>
          <p:cNvSpPr/>
          <p:nvPr/>
        </p:nvSpPr>
        <p:spPr>
          <a:xfrm>
            <a:off x="6967728" y="1106424"/>
            <a:ext cx="16642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Poppins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Oracle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217920" y="1554480"/>
            <a:ext cx="241401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250"/>
              <a:buFont typeface="Poppins"/>
              <a:buNone/>
            </a:pPr>
            <a:r>
              <a:rPr b="1" i="0" lang="en-US" sz="125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Paul the Octopus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217920" y="1883664"/>
            <a:ext cx="2414016" cy="1828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"/>
          <p:cNvSpPr/>
          <p:nvPr/>
        </p:nvSpPr>
        <p:spPr>
          <a:xfrm>
            <a:off x="6217920" y="1938528"/>
            <a:ext cx="2414016" cy="2505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A German aquarium octopus predicted World Cup results by choosing between two mussel-filled boxes marked with team flags. He went 8-for-8, correctly calling the final.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Calibri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He received death threats, a state protection offer, and honorary citizenship from a Spanish town. He died peacefully four months later.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>
            <a:hlinkClick r:id="rId7"/>
          </p:cNvPr>
          <p:cNvSpPr/>
          <p:nvPr/>
        </p:nvSpPr>
        <p:spPr>
          <a:xfrm>
            <a:off x="6217920" y="4462272"/>
            <a:ext cx="241401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000"/>
              <a:buFont typeface="Inter"/>
              <a:buNone/>
            </a:pPr>
            <a:r>
              <a:rPr b="1" i="0" lang="en-US" sz="1000" u="sng" cap="none" strike="noStrike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8"/>
              </a:rPr>
              <a:t>▶  YouTube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The World's Greatest Sporting Event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411480" y="1143000"/>
            <a:ext cx="1874520" cy="237744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411480" y="1143000"/>
            <a:ext cx="1874520" cy="8229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411480" y="1325880"/>
            <a:ext cx="1874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5600"/>
              <a:buFont typeface="Poppins"/>
              <a:buNone/>
            </a:pPr>
            <a:r>
              <a:rPr b="1" i="0" lang="en-US" sz="56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206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94360" y="2606040"/>
            <a:ext cx="15087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02920" y="2697480"/>
            <a:ext cx="1691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teams began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qualifying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2487168" y="1143000"/>
            <a:ext cx="1874520" cy="237744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2487168" y="1143000"/>
            <a:ext cx="1874520" cy="8229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2487168" y="1325880"/>
            <a:ext cx="1874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5600"/>
              <a:buFont typeface="Poppins"/>
              <a:buNone/>
            </a:pPr>
            <a:r>
              <a:rPr b="1" i="0" lang="en-US" sz="56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48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670048" y="2606040"/>
            <a:ext cx="15087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2578608" y="2697480"/>
            <a:ext cx="1691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teams in the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final tournament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562856" y="1143000"/>
            <a:ext cx="1874520" cy="237744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562856" y="1143000"/>
            <a:ext cx="1874520" cy="8229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562856" y="1325880"/>
            <a:ext cx="1874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5600"/>
              <a:buFont typeface="Poppins"/>
              <a:buNone/>
            </a:pPr>
            <a:r>
              <a:rPr b="1" i="0" lang="en-US" sz="56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104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745736" y="2606040"/>
            <a:ext cx="15087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654296" y="2697480"/>
            <a:ext cx="1691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to be played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638544" y="1143000"/>
            <a:ext cx="1874520" cy="237744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6638544" y="1143000"/>
            <a:ext cx="1874520" cy="8229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6638544" y="1325880"/>
            <a:ext cx="187452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5600"/>
              <a:buFont typeface="Poppins"/>
              <a:buNone/>
            </a:pPr>
            <a:r>
              <a:rPr b="1" i="0" lang="en-US" sz="56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38</a:t>
            </a:r>
            <a:endParaRPr b="0" i="0" sz="5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6821424" y="2606040"/>
            <a:ext cx="15087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729984" y="2697480"/>
            <a:ext cx="169164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days of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football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411480" y="420624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1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Up from 32 teams — more underdogs, more upsets, more surprises.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48 Qualified Nations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11480" y="1042416"/>
            <a:ext cx="8321040" cy="3863340"/>
          </a:xfrm>
          <a:prstGeom prst="rect">
            <a:avLst/>
          </a:prstGeom>
          <a:solidFill>
            <a:srgbClr val="EEF4F8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xciting-charming-faraday/mnt/outputs/wc2026_map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42416"/>
            <a:ext cx="8321040" cy="386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The Group Stage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Jun 11 – Jun 27,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411480" y="1078992"/>
            <a:ext cx="3886200" cy="374904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"/>
          <p:cNvSpPr/>
          <p:nvPr/>
        </p:nvSpPr>
        <p:spPr>
          <a:xfrm>
            <a:off x="411480" y="1078992"/>
            <a:ext cx="3886200" cy="47548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9"/>
          <p:cNvSpPr/>
          <p:nvPr/>
        </p:nvSpPr>
        <p:spPr>
          <a:xfrm>
            <a:off x="576072" y="11521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Points Are Earned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94360" y="1609344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Each team plays 3 matches in their group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502920" y="1947672"/>
            <a:ext cx="3721608" cy="512064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594360" y="198424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Win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1691640" y="2075688"/>
            <a:ext cx="27432" cy="274320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1783080" y="1984248"/>
            <a:ext cx="2350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3 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02920" y="2496312"/>
            <a:ext cx="3721608" cy="512064"/>
          </a:xfrm>
          <a:prstGeom prst="rect">
            <a:avLst/>
          </a:prstGeom>
          <a:solidFill>
            <a:srgbClr val="FFFBE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594360" y="253288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00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8A6A00"/>
                </a:solidFill>
                <a:latin typeface="Poppins"/>
                <a:ea typeface="Poppins"/>
                <a:cs typeface="Poppins"/>
                <a:sym typeface="Poppins"/>
              </a:rPr>
              <a:t>Draw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691640" y="2624328"/>
            <a:ext cx="27432" cy="274320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1783080" y="2532888"/>
            <a:ext cx="2350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6A00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8A6A00"/>
                </a:solidFill>
                <a:latin typeface="Poppins"/>
                <a:ea typeface="Poppins"/>
                <a:cs typeface="Poppins"/>
                <a:sym typeface="Poppins"/>
              </a:rPr>
              <a:t>1 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502920" y="3044952"/>
            <a:ext cx="3721608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594360" y="3081528"/>
            <a:ext cx="100584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600"/>
              <a:buFont typeface="Poppins"/>
              <a:buNone/>
            </a:pPr>
            <a:r>
              <a:rPr b="1" i="0" lang="en-US" sz="16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Loss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1691640" y="3172968"/>
            <a:ext cx="27432" cy="274320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/>
          <p:nvPr/>
        </p:nvSpPr>
        <p:spPr>
          <a:xfrm>
            <a:off x="1783080" y="3081528"/>
            <a:ext cx="235000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2000"/>
              <a:buFont typeface="Poppins"/>
              <a:buNone/>
            </a:pPr>
            <a:r>
              <a:rPr b="1" i="0" lang="en-US" sz="2000" u="none" cap="none" strike="noStrike">
                <a:solidFill>
                  <a:srgbClr val="999999"/>
                </a:solidFill>
                <a:latin typeface="Poppins"/>
                <a:ea typeface="Poppins"/>
                <a:cs typeface="Poppins"/>
                <a:sym typeface="Poppins"/>
              </a:rPr>
              <a:t>0 pts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/>
          <p:nvPr/>
        </p:nvSpPr>
        <p:spPr>
          <a:xfrm>
            <a:off x="502920" y="3685032"/>
            <a:ext cx="3721608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594360" y="3776472"/>
            <a:ext cx="3611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Poppins"/>
              <a:buNone/>
            </a:pPr>
            <a:r>
              <a:rPr b="1" i="0" lang="en-US" sz="12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Who advances?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594360" y="4069080"/>
            <a:ext cx="54864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731520" y="4050792"/>
            <a:ext cx="34472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Top 2 from each group qualify directly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94360" y="4416552"/>
            <a:ext cx="54864" cy="329184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731520" y="4398264"/>
            <a:ext cx="344728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8 best 3rd-place teams (across all 12 groups) also advance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/>
          <p:nvPr/>
        </p:nvSpPr>
        <p:spPr>
          <a:xfrm>
            <a:off x="4572000" y="1078992"/>
            <a:ext cx="3886200" cy="374904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9"/>
          <p:cNvSpPr/>
          <p:nvPr/>
        </p:nvSpPr>
        <p:spPr>
          <a:xfrm>
            <a:off x="4572000" y="1078992"/>
            <a:ext cx="3886200" cy="47548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/>
          <p:nvPr/>
        </p:nvSpPr>
        <p:spPr>
          <a:xfrm>
            <a:off x="4736592" y="11521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Example Group Table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4754880" y="1600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3rd place can also advance — see left card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736592" y="1929384"/>
            <a:ext cx="3593592" cy="310896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4828032" y="1947672"/>
            <a:ext cx="216712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6903720" y="19476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7260336" y="19476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7616952" y="19476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7973568" y="194767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4736592" y="2240280"/>
            <a:ext cx="3593592" cy="420624"/>
          </a:xfrm>
          <a:prstGeom prst="rect">
            <a:avLst/>
          </a:prstGeom>
          <a:solidFill>
            <a:srgbClr val="EBF9FF"/>
          </a:solidFill>
          <a:ln cap="flat" cmpd="sng" w="9525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/>
          <p:nvPr/>
        </p:nvSpPr>
        <p:spPr>
          <a:xfrm>
            <a:off x="4736592" y="2240280"/>
            <a:ext cx="36576" cy="420624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/>
          <p:nvPr/>
        </p:nvSpPr>
        <p:spPr>
          <a:xfrm>
            <a:off x="4828032" y="2258568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Spain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6903720" y="2258568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7260336" y="2258568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7616952" y="2258568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7973568" y="2258568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7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4736592" y="2660904"/>
            <a:ext cx="3593592" cy="420624"/>
          </a:xfrm>
          <a:prstGeom prst="rect">
            <a:avLst/>
          </a:prstGeom>
          <a:solidFill>
            <a:srgbClr val="EBF9FF"/>
          </a:solidFill>
          <a:ln cap="flat" cmpd="sng" w="9525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"/>
          <p:cNvSpPr/>
          <p:nvPr/>
        </p:nvSpPr>
        <p:spPr>
          <a:xfrm>
            <a:off x="4736592" y="2660904"/>
            <a:ext cx="36576" cy="420624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828032" y="2679192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Germany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6903720" y="267919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7260336" y="267919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7616952" y="267919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7973568" y="2679192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4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4736592" y="3081528"/>
            <a:ext cx="3593592" cy="420624"/>
          </a:xfrm>
          <a:prstGeom prst="rect">
            <a:avLst/>
          </a:prstGeom>
          <a:solidFill>
            <a:srgbClr val="FFF8EE"/>
          </a:solidFill>
          <a:ln cap="flat" cmpd="sng" w="9525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736592" y="3081528"/>
            <a:ext cx="36576" cy="420624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4828032" y="3099816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903720" y="3099816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7260336" y="3099816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7616952" y="3099816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7973568" y="3099816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4736592" y="3502152"/>
            <a:ext cx="3593592" cy="420624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4828032" y="3520440"/>
            <a:ext cx="2112264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Morocco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6903720" y="352044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7260336" y="352044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7616952" y="352044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7973568" y="3520440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525F66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4736592" y="4050792"/>
            <a:ext cx="36576" cy="182880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"/>
          <p:cNvSpPr/>
          <p:nvPr/>
        </p:nvSpPr>
        <p:spPr>
          <a:xfrm>
            <a:off x="4828032" y="4050792"/>
            <a:ext cx="34838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= direct qualifier (top 2)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4736592" y="4270248"/>
            <a:ext cx="36576" cy="182880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/>
          <p:nvPr/>
        </p:nvSpPr>
        <p:spPr>
          <a:xfrm>
            <a:off x="4828032" y="4270248"/>
            <a:ext cx="348386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= 3rd place, may qualify as one of 8 best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The Knockout Stage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0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Jun 28 – Jul 19,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11480" y="1078992"/>
            <a:ext cx="3886200" cy="3931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"/>
          <p:cNvSpPr/>
          <p:nvPr/>
        </p:nvSpPr>
        <p:spPr>
          <a:xfrm>
            <a:off x="411480" y="1078992"/>
            <a:ext cx="3886200" cy="475488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0"/>
          <p:cNvSpPr/>
          <p:nvPr/>
        </p:nvSpPr>
        <p:spPr>
          <a:xfrm>
            <a:off x="576072" y="11521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Bracket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594360" y="160020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32 teams · single-elimination · 5 rounds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502920" y="1965960"/>
            <a:ext cx="3721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0"/>
          <p:cNvSpPr/>
          <p:nvPr/>
        </p:nvSpPr>
        <p:spPr>
          <a:xfrm>
            <a:off x="548640" y="2084832"/>
            <a:ext cx="109728" cy="21945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0"/>
          <p:cNvSpPr/>
          <p:nvPr/>
        </p:nvSpPr>
        <p:spPr>
          <a:xfrm>
            <a:off x="749808" y="2002536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Round of 32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502920" y="2002536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16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502920" y="2459736"/>
            <a:ext cx="3721608" cy="457200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0"/>
          <p:cNvSpPr/>
          <p:nvPr/>
        </p:nvSpPr>
        <p:spPr>
          <a:xfrm>
            <a:off x="548640" y="2578608"/>
            <a:ext cx="109728" cy="21945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"/>
          <p:cNvSpPr/>
          <p:nvPr/>
        </p:nvSpPr>
        <p:spPr>
          <a:xfrm>
            <a:off x="749808" y="2496312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Round of 16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502920" y="2496312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8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502920" y="2953512"/>
            <a:ext cx="3721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548640" y="3072384"/>
            <a:ext cx="109728" cy="21945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749808" y="2990088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Quarterfinal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02920" y="2990088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4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502920" y="3447288"/>
            <a:ext cx="3721608" cy="457200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"/>
          <p:cNvSpPr/>
          <p:nvPr/>
        </p:nvSpPr>
        <p:spPr>
          <a:xfrm>
            <a:off x="548640" y="3566160"/>
            <a:ext cx="109728" cy="219456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0"/>
          <p:cNvSpPr/>
          <p:nvPr/>
        </p:nvSpPr>
        <p:spPr>
          <a:xfrm>
            <a:off x="749808" y="3483864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Inter"/>
              <a:buNone/>
            </a:pPr>
            <a:r>
              <a:rPr b="0" i="0" lang="en-US" sz="13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Semifinal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502920" y="3483864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2 matches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502920" y="3941064"/>
            <a:ext cx="3721608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0"/>
          <p:cNvSpPr/>
          <p:nvPr/>
        </p:nvSpPr>
        <p:spPr>
          <a:xfrm>
            <a:off x="548640" y="4059936"/>
            <a:ext cx="109728" cy="219456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0"/>
          <p:cNvSpPr/>
          <p:nvPr/>
        </p:nvSpPr>
        <p:spPr>
          <a:xfrm>
            <a:off x="749808" y="3977640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AAAA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AAAAAA"/>
                </a:solidFill>
                <a:latin typeface="Inter"/>
                <a:ea typeface="Inter"/>
                <a:cs typeface="Inter"/>
                <a:sym typeface="Inter"/>
              </a:rPr>
              <a:t>3rd Place (SF losers)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502920" y="3977640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 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502920" y="4434840"/>
            <a:ext cx="3721608" cy="457200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"/>
          <p:cNvSpPr/>
          <p:nvPr/>
        </p:nvSpPr>
        <p:spPr>
          <a:xfrm>
            <a:off x="548640" y="4553712"/>
            <a:ext cx="109728" cy="219456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0"/>
          <p:cNvSpPr/>
          <p:nvPr/>
        </p:nvSpPr>
        <p:spPr>
          <a:xfrm>
            <a:off x="749808" y="4471416"/>
            <a:ext cx="256032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300"/>
              <a:buFont typeface="Inter"/>
              <a:buNone/>
            </a:pPr>
            <a:r>
              <a:rPr b="1" i="0" lang="en-US" sz="1300" u="none" cap="none" strike="noStrike">
                <a:solidFill>
                  <a:srgbClr val="FF9E16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502920" y="4471416"/>
            <a:ext cx="361188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1 match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4572000" y="1078992"/>
            <a:ext cx="3886200" cy="393192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0"/>
          <p:cNvSpPr/>
          <p:nvPr/>
        </p:nvSpPr>
        <p:spPr>
          <a:xfrm>
            <a:off x="4572000" y="1078992"/>
            <a:ext cx="3886200" cy="47548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"/>
          <p:cNvSpPr/>
          <p:nvPr/>
        </p:nvSpPr>
        <p:spPr>
          <a:xfrm>
            <a:off x="4736592" y="1152144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How a Match is Decided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4754880" y="160020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No draws allowed — there must be a winner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4754880" y="1965960"/>
            <a:ext cx="3520440" cy="804672"/>
          </a:xfrm>
          <a:prstGeom prst="rect">
            <a:avLst/>
          </a:prstGeom>
          <a:solidFill>
            <a:srgbClr val="EBF9FF"/>
          </a:solidFill>
          <a:ln cap="flat" cmpd="sng" w="19050">
            <a:solidFill>
              <a:srgbClr val="009ED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10"/>
          <p:cNvSpPr/>
          <p:nvPr/>
        </p:nvSpPr>
        <p:spPr>
          <a:xfrm>
            <a:off x="4828032" y="2185416"/>
            <a:ext cx="365760" cy="365760"/>
          </a:xfrm>
          <a:prstGeom prst="ellipse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"/>
          <p:cNvSpPr/>
          <p:nvPr/>
        </p:nvSpPr>
        <p:spPr>
          <a:xfrm>
            <a:off x="4828032" y="218541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303520" y="2039112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Regular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303520" y="236829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90 minutes (2 × 45 min halves)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4754880" y="2779776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if tied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4754880" y="2935224"/>
            <a:ext cx="35204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4828032" y="3154680"/>
            <a:ext cx="365760" cy="365760"/>
          </a:xfrm>
          <a:prstGeom prst="ellipse">
            <a:avLst/>
          </a:prstGeom>
          <a:solidFill>
            <a:srgbClr val="525F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4828032" y="31546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303520" y="3008376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Extra Time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5303520" y="333756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2 × 15 min extra periods if still tied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0"/>
          <p:cNvSpPr/>
          <p:nvPr/>
        </p:nvSpPr>
        <p:spPr>
          <a:xfrm>
            <a:off x="4754880" y="3749040"/>
            <a:ext cx="3520440" cy="155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950"/>
              <a:buFont typeface="Inter"/>
              <a:buNone/>
            </a:pPr>
            <a:r>
              <a:rPr b="0" i="1" lang="en-US" sz="9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if tied →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0"/>
          <p:cNvSpPr/>
          <p:nvPr/>
        </p:nvSpPr>
        <p:spPr>
          <a:xfrm>
            <a:off x="4754880" y="3904488"/>
            <a:ext cx="3520440" cy="804672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0"/>
          <p:cNvSpPr/>
          <p:nvPr/>
        </p:nvSpPr>
        <p:spPr>
          <a:xfrm>
            <a:off x="4828032" y="4123944"/>
            <a:ext cx="365760" cy="365760"/>
          </a:xfrm>
          <a:prstGeom prst="ellipse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0"/>
          <p:cNvSpPr/>
          <p:nvPr/>
        </p:nvSpPr>
        <p:spPr>
          <a:xfrm>
            <a:off x="4828032" y="412394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303520" y="3977640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Penalty Shootout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5303520" y="43068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5 kicks each — sudden death if still tied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Example Bracket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411480" y="1078992"/>
            <a:ext cx="8321040" cy="374904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411480" y="1078992"/>
            <a:ext cx="8321040" cy="475488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576072" y="1152144"/>
            <a:ext cx="80924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8-team bracket — showing from the Quarterfinals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1188720" y="1627632"/>
            <a:ext cx="1965960" cy="256032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>
            <a:off x="1188720" y="162763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Quarter-final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3611880" y="1627632"/>
            <a:ext cx="1965960" cy="256032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>
            <a:off x="3611880" y="162763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Semi-final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6035040" y="1627632"/>
            <a:ext cx="1965960" cy="256032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1"/>
          <p:cNvSpPr/>
          <p:nvPr/>
        </p:nvSpPr>
        <p:spPr>
          <a:xfrm>
            <a:off x="6035040" y="1627632"/>
            <a:ext cx="1965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Final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1"/>
          <p:cNvCxnSpPr/>
          <p:nvPr/>
        </p:nvCxnSpPr>
        <p:spPr>
          <a:xfrm>
            <a:off x="3154680" y="2249424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11"/>
          <p:cNvCxnSpPr/>
          <p:nvPr/>
        </p:nvCxnSpPr>
        <p:spPr>
          <a:xfrm>
            <a:off x="3154680" y="2999232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1"/>
          <p:cNvCxnSpPr/>
          <p:nvPr/>
        </p:nvCxnSpPr>
        <p:spPr>
          <a:xfrm>
            <a:off x="3383280" y="2249424"/>
            <a:ext cx="0" cy="749808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1"/>
          <p:cNvCxnSpPr/>
          <p:nvPr/>
        </p:nvCxnSpPr>
        <p:spPr>
          <a:xfrm>
            <a:off x="3383280" y="2624328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1"/>
          <p:cNvCxnSpPr/>
          <p:nvPr/>
        </p:nvCxnSpPr>
        <p:spPr>
          <a:xfrm>
            <a:off x="3154680" y="3749040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1"/>
          <p:cNvCxnSpPr/>
          <p:nvPr/>
        </p:nvCxnSpPr>
        <p:spPr>
          <a:xfrm>
            <a:off x="3154680" y="4498848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1"/>
          <p:cNvCxnSpPr/>
          <p:nvPr/>
        </p:nvCxnSpPr>
        <p:spPr>
          <a:xfrm>
            <a:off x="3383280" y="3749040"/>
            <a:ext cx="0" cy="749808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11"/>
          <p:cNvCxnSpPr/>
          <p:nvPr/>
        </p:nvCxnSpPr>
        <p:spPr>
          <a:xfrm>
            <a:off x="3383280" y="4123944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1"/>
          <p:cNvCxnSpPr/>
          <p:nvPr/>
        </p:nvCxnSpPr>
        <p:spPr>
          <a:xfrm>
            <a:off x="5577840" y="2624328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1"/>
          <p:cNvCxnSpPr/>
          <p:nvPr/>
        </p:nvCxnSpPr>
        <p:spPr>
          <a:xfrm>
            <a:off x="5577840" y="4123944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1"/>
          <p:cNvCxnSpPr/>
          <p:nvPr/>
        </p:nvCxnSpPr>
        <p:spPr>
          <a:xfrm>
            <a:off x="5806440" y="2624328"/>
            <a:ext cx="0" cy="1499616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1"/>
          <p:cNvCxnSpPr/>
          <p:nvPr/>
        </p:nvCxnSpPr>
        <p:spPr>
          <a:xfrm>
            <a:off x="5806440" y="3374136"/>
            <a:ext cx="228600" cy="0"/>
          </a:xfrm>
          <a:prstGeom prst="straightConnector1">
            <a:avLst/>
          </a:prstGeom>
          <a:noFill/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11"/>
          <p:cNvSpPr/>
          <p:nvPr/>
        </p:nvSpPr>
        <p:spPr>
          <a:xfrm>
            <a:off x="1188720" y="1965960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1"/>
          <p:cNvSpPr/>
          <p:nvPr/>
        </p:nvSpPr>
        <p:spPr>
          <a:xfrm>
            <a:off x="1188720" y="1965960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1"/>
          <p:cNvSpPr/>
          <p:nvPr/>
        </p:nvSpPr>
        <p:spPr>
          <a:xfrm>
            <a:off x="1280160" y="1965960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1188720" y="2221992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/>
          <p:nvPr/>
        </p:nvSpPr>
        <p:spPr>
          <a:xfrm>
            <a:off x="1188720" y="2249424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280160" y="2249424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France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1"/>
          <p:cNvSpPr/>
          <p:nvPr/>
        </p:nvSpPr>
        <p:spPr>
          <a:xfrm>
            <a:off x="1188720" y="2715768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1"/>
          <p:cNvSpPr/>
          <p:nvPr/>
        </p:nvSpPr>
        <p:spPr>
          <a:xfrm>
            <a:off x="1188720" y="2715768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1"/>
          <p:cNvSpPr/>
          <p:nvPr/>
        </p:nvSpPr>
        <p:spPr>
          <a:xfrm>
            <a:off x="1280160" y="2715768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Germany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1"/>
          <p:cNvSpPr/>
          <p:nvPr/>
        </p:nvSpPr>
        <p:spPr>
          <a:xfrm>
            <a:off x="1188720" y="2971800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1"/>
          <p:cNvSpPr/>
          <p:nvPr/>
        </p:nvSpPr>
        <p:spPr>
          <a:xfrm>
            <a:off x="1188720" y="2999232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1"/>
          <p:cNvSpPr/>
          <p:nvPr/>
        </p:nvSpPr>
        <p:spPr>
          <a:xfrm>
            <a:off x="1280160" y="2999232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England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1"/>
          <p:cNvSpPr/>
          <p:nvPr/>
        </p:nvSpPr>
        <p:spPr>
          <a:xfrm>
            <a:off x="1188720" y="3465576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1188720" y="3465576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1280160" y="3465576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Argentina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1188720" y="3721608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1"/>
          <p:cNvSpPr/>
          <p:nvPr/>
        </p:nvSpPr>
        <p:spPr>
          <a:xfrm>
            <a:off x="1188720" y="3749040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1280160" y="3749040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Brazil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1188720" y="4215384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1188720" y="4215384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1280160" y="4215384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1188720" y="4471416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1"/>
          <p:cNvSpPr/>
          <p:nvPr/>
        </p:nvSpPr>
        <p:spPr>
          <a:xfrm>
            <a:off x="1188720" y="4498848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/>
          <p:nvPr/>
        </p:nvSpPr>
        <p:spPr>
          <a:xfrm>
            <a:off x="1280160" y="4498848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Morocco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3611880" y="2340864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3611880" y="2340864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3703320" y="2340864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Spain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3611880" y="2596896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1"/>
          <p:cNvSpPr/>
          <p:nvPr/>
        </p:nvSpPr>
        <p:spPr>
          <a:xfrm>
            <a:off x="3611880" y="2624328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3703320" y="2624328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Germany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3611880" y="3840480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3611880" y="3840480"/>
            <a:ext cx="1965960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3703320" y="3840480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Inter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Argentina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3611880" y="4096512"/>
            <a:ext cx="196596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1"/>
          <p:cNvSpPr/>
          <p:nvPr/>
        </p:nvSpPr>
        <p:spPr>
          <a:xfrm>
            <a:off x="3611880" y="4123944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1"/>
          <p:cNvSpPr/>
          <p:nvPr/>
        </p:nvSpPr>
        <p:spPr>
          <a:xfrm>
            <a:off x="3703320" y="4123944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BBBB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BBBBBB"/>
                </a:solidFill>
                <a:latin typeface="Inter"/>
                <a:ea typeface="Inter"/>
                <a:cs typeface="Inter"/>
                <a:sym typeface="Inter"/>
              </a:rPr>
              <a:t>USA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035040" y="3090672"/>
            <a:ext cx="1965960" cy="566928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9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6035040" y="3090672"/>
            <a:ext cx="196596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6126480" y="3090672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Spain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6035040" y="3346704"/>
            <a:ext cx="1965960" cy="27432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1"/>
          <p:cNvSpPr/>
          <p:nvPr/>
        </p:nvSpPr>
        <p:spPr>
          <a:xfrm>
            <a:off x="6035040" y="3374136"/>
            <a:ext cx="1965960" cy="2834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1"/>
          <p:cNvSpPr/>
          <p:nvPr/>
        </p:nvSpPr>
        <p:spPr>
          <a:xfrm>
            <a:off x="6126480" y="3374136"/>
            <a:ext cx="183794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50"/>
              <a:buFont typeface="Inter"/>
              <a:buNone/>
            </a:pPr>
            <a:r>
              <a:rPr b="0" i="0" lang="en-US" sz="10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Argentina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6035040" y="3730752"/>
            <a:ext cx="19659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000"/>
              <a:buFont typeface="Poppins"/>
              <a:buNone/>
            </a:pPr>
            <a:r>
              <a:rPr b="1" i="0" lang="en-US" sz="1000" u="none" cap="none" strike="noStrike">
                <a:solidFill>
                  <a:srgbClr val="FF9E16"/>
                </a:solidFill>
                <a:latin typeface="Poppins"/>
                <a:ea typeface="Poppins"/>
                <a:cs typeface="Poppins"/>
                <a:sym typeface="Poppins"/>
              </a:rPr>
              <a:t>Champion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Our Pool: Group Stage Picks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2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2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Due: Jun 11,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2"/>
          <p:cNvSpPr/>
          <p:nvPr/>
        </p:nvSpPr>
        <p:spPr>
          <a:xfrm>
            <a:off x="617220" y="1115568"/>
            <a:ext cx="2468880" cy="96012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2"/>
          <p:cNvSpPr/>
          <p:nvPr/>
        </p:nvSpPr>
        <p:spPr>
          <a:xfrm>
            <a:off x="617220" y="117043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72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617220" y="16916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matches to pick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2"/>
          <p:cNvSpPr/>
          <p:nvPr/>
        </p:nvSpPr>
        <p:spPr>
          <a:xfrm>
            <a:off x="3337560" y="1115568"/>
            <a:ext cx="2468880" cy="960120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2"/>
          <p:cNvSpPr/>
          <p:nvPr/>
        </p:nvSpPr>
        <p:spPr>
          <a:xfrm>
            <a:off x="3337560" y="117043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3337560" y="16916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pts per correct pick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2"/>
          <p:cNvSpPr/>
          <p:nvPr/>
        </p:nvSpPr>
        <p:spPr>
          <a:xfrm>
            <a:off x="6057900" y="1115568"/>
            <a:ext cx="2468880" cy="960120"/>
          </a:xfrm>
          <a:prstGeom prst="rect">
            <a:avLst/>
          </a:prstGeom>
          <a:solidFill>
            <a:srgbClr val="009ED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"/>
          <p:cNvSpPr/>
          <p:nvPr/>
        </p:nvSpPr>
        <p:spPr>
          <a:xfrm>
            <a:off x="6057900" y="1170432"/>
            <a:ext cx="2468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144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057900" y="1691640"/>
            <a:ext cx="24688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Inter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points available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2"/>
          <p:cNvSpPr/>
          <p:nvPr/>
        </p:nvSpPr>
        <p:spPr>
          <a:xfrm>
            <a:off x="411480" y="2276856"/>
            <a:ext cx="8321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131E27"/>
                </a:solidFill>
                <a:latin typeface="Poppins"/>
                <a:ea typeface="Poppins"/>
                <a:cs typeface="Poppins"/>
                <a:sym typeface="Poppins"/>
              </a:rPr>
              <a:t>What you pick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2"/>
          <p:cNvSpPr/>
          <p:nvPr/>
        </p:nvSpPr>
        <p:spPr>
          <a:xfrm>
            <a:off x="411480" y="2596896"/>
            <a:ext cx="8321040" cy="146304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2"/>
          <p:cNvSpPr/>
          <p:nvPr/>
        </p:nvSpPr>
        <p:spPr>
          <a:xfrm>
            <a:off x="594360" y="272491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For each match, pick one: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2"/>
          <p:cNvSpPr/>
          <p:nvPr/>
        </p:nvSpPr>
        <p:spPr>
          <a:xfrm>
            <a:off x="1143000" y="3035808"/>
            <a:ext cx="2103120" cy="658368"/>
          </a:xfrm>
          <a:prstGeom prst="rect">
            <a:avLst/>
          </a:prstGeom>
          <a:solidFill>
            <a:srgbClr val="009EDF"/>
          </a:solidFill>
          <a:ln cap="flat" cmpd="sng" w="25400">
            <a:solidFill>
              <a:srgbClr val="009EDF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2"/>
          <p:cNvSpPr/>
          <p:nvPr/>
        </p:nvSpPr>
        <p:spPr>
          <a:xfrm>
            <a:off x="1143000" y="309067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Team 1 Win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1143000" y="34015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e.g. Brazil wins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2"/>
          <p:cNvSpPr/>
          <p:nvPr/>
        </p:nvSpPr>
        <p:spPr>
          <a:xfrm>
            <a:off x="3520440" y="3035808"/>
            <a:ext cx="2103120" cy="658368"/>
          </a:xfrm>
          <a:prstGeom prst="rect">
            <a:avLst/>
          </a:prstGeom>
          <a:solidFill>
            <a:srgbClr val="FFF8E6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2"/>
          <p:cNvSpPr/>
          <p:nvPr/>
        </p:nvSpPr>
        <p:spPr>
          <a:xfrm>
            <a:off x="3520440" y="309067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A00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8A6A00"/>
                </a:solidFill>
                <a:latin typeface="Poppins"/>
                <a:ea typeface="Poppins"/>
                <a:cs typeface="Poppins"/>
                <a:sym typeface="Poppins"/>
              </a:rPr>
              <a:t>Draw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2"/>
          <p:cNvSpPr/>
          <p:nvPr/>
        </p:nvSpPr>
        <p:spPr>
          <a:xfrm>
            <a:off x="3520440" y="34015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match ends level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2"/>
          <p:cNvSpPr/>
          <p:nvPr/>
        </p:nvSpPr>
        <p:spPr>
          <a:xfrm>
            <a:off x="5897880" y="3035808"/>
            <a:ext cx="2103120" cy="6583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2"/>
          <p:cNvSpPr/>
          <p:nvPr/>
        </p:nvSpPr>
        <p:spPr>
          <a:xfrm>
            <a:off x="5897880" y="3090672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400"/>
              <a:buFont typeface="Poppins"/>
              <a:buNone/>
            </a:pPr>
            <a:r>
              <a:rPr b="1" i="0" lang="en-US" sz="1400" u="none" cap="none" strike="noStrike">
                <a:solidFill>
                  <a:srgbClr val="525F66"/>
                </a:solidFill>
                <a:latin typeface="Poppins"/>
                <a:ea typeface="Poppins"/>
                <a:cs typeface="Poppins"/>
                <a:sym typeface="Poppins"/>
              </a:rPr>
              <a:t>Team 2 Win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2"/>
          <p:cNvSpPr/>
          <p:nvPr/>
        </p:nvSpPr>
        <p:spPr>
          <a:xfrm>
            <a:off x="5897880" y="3401568"/>
            <a:ext cx="2103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00"/>
              <a:buFont typeface="Inter"/>
              <a:buNone/>
            </a:pPr>
            <a:r>
              <a:rPr b="0" i="1" lang="en-US" sz="10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e.g. Germany wins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411480" y="4261104"/>
            <a:ext cx="4069080" cy="658368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2"/>
          <p:cNvSpPr/>
          <p:nvPr/>
        </p:nvSpPr>
        <p:spPr>
          <a:xfrm>
            <a:off x="521208" y="4261104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2 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2"/>
          <p:cNvSpPr/>
          <p:nvPr/>
        </p:nvSpPr>
        <p:spPr>
          <a:xfrm>
            <a:off x="1280160" y="4398264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12"/>
          <p:cNvSpPr/>
          <p:nvPr/>
        </p:nvSpPr>
        <p:spPr>
          <a:xfrm>
            <a:off x="1371600" y="4261104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for each correct pick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2"/>
          <p:cNvSpPr/>
          <p:nvPr/>
        </p:nvSpPr>
        <p:spPr>
          <a:xfrm>
            <a:off x="4572000" y="4261104"/>
            <a:ext cx="4069080" cy="658368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2"/>
          <p:cNvSpPr/>
          <p:nvPr/>
        </p:nvSpPr>
        <p:spPr>
          <a:xfrm>
            <a:off x="4681728" y="4261104"/>
            <a:ext cx="7315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0 pts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2"/>
          <p:cNvSpPr/>
          <p:nvPr/>
        </p:nvSpPr>
        <p:spPr>
          <a:xfrm>
            <a:off x="5440680" y="4398264"/>
            <a:ext cx="18288" cy="384048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5532120" y="4261104"/>
            <a:ext cx="304495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for a wrong pick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3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Our Pool: Knockout Picks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3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3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300"/>
              <a:buFont typeface="Inter"/>
              <a:buNone/>
            </a:pPr>
            <a:r>
              <a:rPr b="0" i="1" lang="en-US" sz="13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Due: Jun 28,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3"/>
          <p:cNvSpPr/>
          <p:nvPr/>
        </p:nvSpPr>
        <p:spPr>
          <a:xfrm>
            <a:off x="411480" y="1115568"/>
            <a:ext cx="3886200" cy="388620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3"/>
          <p:cNvSpPr/>
          <p:nvPr/>
        </p:nvSpPr>
        <p:spPr>
          <a:xfrm>
            <a:off x="411480" y="1115568"/>
            <a:ext cx="3886200" cy="475488"/>
          </a:xfrm>
          <a:prstGeom prst="rect">
            <a:avLst/>
          </a:prstGeom>
          <a:solidFill>
            <a:srgbClr val="131E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3"/>
          <p:cNvSpPr/>
          <p:nvPr/>
        </p:nvSpPr>
        <p:spPr>
          <a:xfrm>
            <a:off x="576072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Points by Round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94360" y="16459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Points increase each round — pick further, earn more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3"/>
          <p:cNvSpPr/>
          <p:nvPr/>
        </p:nvSpPr>
        <p:spPr>
          <a:xfrm>
            <a:off x="502920" y="1993392"/>
            <a:ext cx="37216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3"/>
          <p:cNvSpPr/>
          <p:nvPr/>
        </p:nvSpPr>
        <p:spPr>
          <a:xfrm>
            <a:off x="548640" y="2103120"/>
            <a:ext cx="91440" cy="15544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3"/>
          <p:cNvSpPr/>
          <p:nvPr/>
        </p:nvSpPr>
        <p:spPr>
          <a:xfrm>
            <a:off x="731520" y="202082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Round of 32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/>
          <p:nvPr/>
        </p:nvSpPr>
        <p:spPr>
          <a:xfrm>
            <a:off x="3474720" y="2075688"/>
            <a:ext cx="713232" cy="2103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474720" y="2075688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4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3"/>
          <p:cNvSpPr/>
          <p:nvPr/>
        </p:nvSpPr>
        <p:spPr>
          <a:xfrm>
            <a:off x="502920" y="2395728"/>
            <a:ext cx="3721608" cy="374904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3"/>
          <p:cNvSpPr/>
          <p:nvPr/>
        </p:nvSpPr>
        <p:spPr>
          <a:xfrm>
            <a:off x="548640" y="2505456"/>
            <a:ext cx="91440" cy="15544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3"/>
          <p:cNvSpPr/>
          <p:nvPr/>
        </p:nvSpPr>
        <p:spPr>
          <a:xfrm>
            <a:off x="731520" y="2423160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Round of 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3"/>
          <p:cNvSpPr/>
          <p:nvPr/>
        </p:nvSpPr>
        <p:spPr>
          <a:xfrm>
            <a:off x="3474720" y="2478024"/>
            <a:ext cx="713232" cy="2103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3"/>
          <p:cNvSpPr/>
          <p:nvPr/>
        </p:nvSpPr>
        <p:spPr>
          <a:xfrm>
            <a:off x="3474720" y="2478024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8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3"/>
          <p:cNvSpPr/>
          <p:nvPr/>
        </p:nvSpPr>
        <p:spPr>
          <a:xfrm>
            <a:off x="502920" y="2798064"/>
            <a:ext cx="37216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3"/>
          <p:cNvSpPr/>
          <p:nvPr/>
        </p:nvSpPr>
        <p:spPr>
          <a:xfrm>
            <a:off x="548640" y="2907792"/>
            <a:ext cx="91440" cy="15544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3"/>
          <p:cNvSpPr/>
          <p:nvPr/>
        </p:nvSpPr>
        <p:spPr>
          <a:xfrm>
            <a:off x="731520" y="2825496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Quarter-final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3"/>
          <p:cNvSpPr/>
          <p:nvPr/>
        </p:nvSpPr>
        <p:spPr>
          <a:xfrm>
            <a:off x="3474720" y="2880360"/>
            <a:ext cx="713232" cy="2103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3"/>
          <p:cNvSpPr/>
          <p:nvPr/>
        </p:nvSpPr>
        <p:spPr>
          <a:xfrm>
            <a:off x="3474720" y="2880360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3"/>
          <p:cNvSpPr/>
          <p:nvPr/>
        </p:nvSpPr>
        <p:spPr>
          <a:xfrm>
            <a:off x="502920" y="3200400"/>
            <a:ext cx="3721608" cy="374904"/>
          </a:xfrm>
          <a:prstGeom prst="rect">
            <a:avLst/>
          </a:prstGeom>
          <a:solidFill>
            <a:srgbClr val="EBF9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3"/>
          <p:cNvSpPr/>
          <p:nvPr/>
        </p:nvSpPr>
        <p:spPr>
          <a:xfrm>
            <a:off x="548640" y="3310128"/>
            <a:ext cx="91440" cy="155448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3"/>
          <p:cNvSpPr/>
          <p:nvPr/>
        </p:nvSpPr>
        <p:spPr>
          <a:xfrm>
            <a:off x="731520" y="3227832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Semi-final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3"/>
          <p:cNvSpPr/>
          <p:nvPr/>
        </p:nvSpPr>
        <p:spPr>
          <a:xfrm>
            <a:off x="3474720" y="3282696"/>
            <a:ext cx="713232" cy="2103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3"/>
          <p:cNvSpPr/>
          <p:nvPr/>
        </p:nvSpPr>
        <p:spPr>
          <a:xfrm>
            <a:off x="3474720" y="3282696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16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3"/>
          <p:cNvSpPr/>
          <p:nvPr/>
        </p:nvSpPr>
        <p:spPr>
          <a:xfrm>
            <a:off x="502920" y="3602736"/>
            <a:ext cx="3721608" cy="3749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3"/>
          <p:cNvSpPr/>
          <p:nvPr/>
        </p:nvSpPr>
        <p:spPr>
          <a:xfrm>
            <a:off x="548640" y="3712464"/>
            <a:ext cx="91440" cy="155448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3"/>
          <p:cNvSpPr/>
          <p:nvPr/>
        </p:nvSpPr>
        <p:spPr>
          <a:xfrm>
            <a:off x="731520" y="3630168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000"/>
              <a:buFont typeface="Inter"/>
              <a:buNone/>
            </a:pPr>
            <a:r>
              <a:rPr b="0" i="0" lang="en-US" sz="10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3rd Place (SF losers)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3"/>
          <p:cNvSpPr/>
          <p:nvPr/>
        </p:nvSpPr>
        <p:spPr>
          <a:xfrm>
            <a:off x="3474720" y="3685032"/>
            <a:ext cx="713232" cy="2103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13"/>
          <p:cNvSpPr/>
          <p:nvPr/>
        </p:nvSpPr>
        <p:spPr>
          <a:xfrm>
            <a:off x="3474720" y="3685032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12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3"/>
          <p:cNvSpPr/>
          <p:nvPr/>
        </p:nvSpPr>
        <p:spPr>
          <a:xfrm>
            <a:off x="502920" y="4005072"/>
            <a:ext cx="3721608" cy="374904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3"/>
          <p:cNvSpPr/>
          <p:nvPr/>
        </p:nvSpPr>
        <p:spPr>
          <a:xfrm>
            <a:off x="548640" y="4114800"/>
            <a:ext cx="91440" cy="15544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3"/>
          <p:cNvSpPr/>
          <p:nvPr/>
        </p:nvSpPr>
        <p:spPr>
          <a:xfrm>
            <a:off x="731520" y="4032504"/>
            <a:ext cx="2377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9E16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F9E16"/>
                </a:solidFill>
                <a:latin typeface="Inter"/>
                <a:ea typeface="Inter"/>
                <a:cs typeface="Inter"/>
                <a:sym typeface="Inter"/>
              </a:rPr>
              <a:t>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3"/>
          <p:cNvSpPr/>
          <p:nvPr/>
        </p:nvSpPr>
        <p:spPr>
          <a:xfrm>
            <a:off x="3474720" y="4087368"/>
            <a:ext cx="713232" cy="210312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3474720" y="4087368"/>
            <a:ext cx="713232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Poppins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3"/>
          <p:cNvSpPr/>
          <p:nvPr/>
        </p:nvSpPr>
        <p:spPr>
          <a:xfrm>
            <a:off x="502920" y="4462272"/>
            <a:ext cx="3721608" cy="43891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3"/>
          <p:cNvSpPr/>
          <p:nvPr/>
        </p:nvSpPr>
        <p:spPr>
          <a:xfrm>
            <a:off x="731520" y="4462272"/>
            <a:ext cx="17373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Max total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3"/>
          <p:cNvSpPr/>
          <p:nvPr/>
        </p:nvSpPr>
        <p:spPr>
          <a:xfrm>
            <a:off x="3474720" y="4462272"/>
            <a:ext cx="713232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Poppins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244 pts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3"/>
          <p:cNvSpPr/>
          <p:nvPr/>
        </p:nvSpPr>
        <p:spPr>
          <a:xfrm>
            <a:off x="4572000" y="1115568"/>
            <a:ext cx="3886200" cy="3886200"/>
          </a:xfrm>
          <a:prstGeom prst="rect">
            <a:avLst/>
          </a:prstGeom>
          <a:solidFill>
            <a:srgbClr val="F7F7F7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3"/>
          <p:cNvSpPr/>
          <p:nvPr/>
        </p:nvSpPr>
        <p:spPr>
          <a:xfrm>
            <a:off x="4572000" y="1115568"/>
            <a:ext cx="3886200" cy="47548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3"/>
          <p:cNvSpPr/>
          <p:nvPr/>
        </p:nvSpPr>
        <p:spPr>
          <a:xfrm>
            <a:off x="4736592" y="1188720"/>
            <a:ext cx="3657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Poppins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Cascade Rule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3"/>
          <p:cNvSpPr/>
          <p:nvPr/>
        </p:nvSpPr>
        <p:spPr>
          <a:xfrm>
            <a:off x="4754880" y="164592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050"/>
              <a:buFont typeface="Inter"/>
              <a:buNone/>
            </a:pPr>
            <a:r>
              <a:rPr b="0" i="1" lang="en-US" sz="105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Your knockout picks must survive to score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3"/>
          <p:cNvSpPr/>
          <p:nvPr/>
        </p:nvSpPr>
        <p:spPr>
          <a:xfrm>
            <a:off x="4754880" y="1993392"/>
            <a:ext cx="3538728" cy="603504"/>
          </a:xfrm>
          <a:prstGeom prst="rect">
            <a:avLst/>
          </a:prstGeom>
          <a:solidFill>
            <a:srgbClr val="EBF9FF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3"/>
          <p:cNvSpPr/>
          <p:nvPr/>
        </p:nvSpPr>
        <p:spPr>
          <a:xfrm>
            <a:off x="4828032" y="2103120"/>
            <a:ext cx="475488" cy="256032"/>
          </a:xfrm>
          <a:prstGeom prst="rect">
            <a:avLst/>
          </a:prstGeom>
          <a:solidFill>
            <a:srgbClr val="009ED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3"/>
          <p:cNvSpPr/>
          <p:nvPr/>
        </p:nvSpPr>
        <p:spPr>
          <a:xfrm>
            <a:off x="4828032" y="2103120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3"/>
          <p:cNvSpPr/>
          <p:nvPr/>
        </p:nvSpPr>
        <p:spPr>
          <a:xfrm>
            <a:off x="5394960" y="2029968"/>
            <a:ext cx="2807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Pick: Brazil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3"/>
          <p:cNvSpPr/>
          <p:nvPr/>
        </p:nvSpPr>
        <p:spPr>
          <a:xfrm>
            <a:off x="5394960" y="2313432"/>
            <a:ext cx="2807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Brazil wins QF  ✓ scores 12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3"/>
          <p:cNvSpPr/>
          <p:nvPr/>
        </p:nvSpPr>
        <p:spPr>
          <a:xfrm>
            <a:off x="4754880" y="2606040"/>
            <a:ext cx="353872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4754880" y="2688336"/>
            <a:ext cx="3538728" cy="603504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4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3"/>
          <p:cNvSpPr/>
          <p:nvPr/>
        </p:nvSpPr>
        <p:spPr>
          <a:xfrm>
            <a:off x="4828032" y="2798064"/>
            <a:ext cx="475488" cy="256032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3"/>
          <p:cNvSpPr/>
          <p:nvPr/>
        </p:nvSpPr>
        <p:spPr>
          <a:xfrm>
            <a:off x="4828032" y="2798064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3"/>
          <p:cNvSpPr/>
          <p:nvPr/>
        </p:nvSpPr>
        <p:spPr>
          <a:xfrm>
            <a:off x="5394960" y="2724912"/>
            <a:ext cx="2807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C3333"/>
                </a:solidFill>
                <a:latin typeface="Inter"/>
                <a:ea typeface="Inter"/>
                <a:cs typeface="Inter"/>
                <a:sym typeface="Inter"/>
              </a:rPr>
              <a:t>Pick: Brazil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3"/>
          <p:cNvSpPr/>
          <p:nvPr/>
        </p:nvSpPr>
        <p:spPr>
          <a:xfrm>
            <a:off x="5394960" y="3008376"/>
            <a:ext cx="2807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CC3333"/>
                </a:solidFill>
                <a:latin typeface="Inter"/>
                <a:ea typeface="Inter"/>
                <a:cs typeface="Inter"/>
                <a:sym typeface="Inter"/>
              </a:rPr>
              <a:t>Brazil LOSES SF  ✗ scores 0 pts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3"/>
          <p:cNvSpPr/>
          <p:nvPr/>
        </p:nvSpPr>
        <p:spPr>
          <a:xfrm>
            <a:off x="4754880" y="3300984"/>
            <a:ext cx="3538728" cy="1188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25F66"/>
              </a:buClr>
              <a:buSzPts val="900"/>
              <a:buFont typeface="Inter"/>
              <a:buNone/>
            </a:pPr>
            <a:r>
              <a:rPr b="0" i="0" lang="en-US" sz="900" u="none" cap="none" strike="noStrike">
                <a:solidFill>
                  <a:srgbClr val="525F66"/>
                </a:solidFill>
                <a:latin typeface="Inter"/>
                <a:ea typeface="Inter"/>
                <a:cs typeface="Inter"/>
                <a:sym typeface="Inter"/>
              </a:rPr>
              <a:t>↓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3"/>
          <p:cNvSpPr/>
          <p:nvPr/>
        </p:nvSpPr>
        <p:spPr>
          <a:xfrm>
            <a:off x="4754880" y="3383280"/>
            <a:ext cx="3538728" cy="603504"/>
          </a:xfrm>
          <a:prstGeom prst="rect">
            <a:avLst/>
          </a:prstGeom>
          <a:solidFill>
            <a:srgbClr val="FFF0F0"/>
          </a:solidFill>
          <a:ln cap="flat" cmpd="sng" w="12700">
            <a:solidFill>
              <a:srgbClr val="F4A7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3"/>
          <p:cNvSpPr/>
          <p:nvPr/>
        </p:nvSpPr>
        <p:spPr>
          <a:xfrm>
            <a:off x="4828032" y="3493008"/>
            <a:ext cx="475488" cy="256032"/>
          </a:xfrm>
          <a:prstGeom prst="rect">
            <a:avLst/>
          </a:prstGeom>
          <a:solidFill>
            <a:srgbClr val="E050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3"/>
          <p:cNvSpPr/>
          <p:nvPr/>
        </p:nvSpPr>
        <p:spPr>
          <a:xfrm>
            <a:off x="4828032" y="3493008"/>
            <a:ext cx="47548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Poppins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Final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3"/>
          <p:cNvSpPr/>
          <p:nvPr/>
        </p:nvSpPr>
        <p:spPr>
          <a:xfrm>
            <a:off x="5394960" y="3419856"/>
            <a:ext cx="28072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CC3333"/>
                </a:solidFill>
                <a:latin typeface="Inter"/>
                <a:ea typeface="Inter"/>
                <a:cs typeface="Inter"/>
                <a:sym typeface="Inter"/>
              </a:rPr>
              <a:t>Pick: Brazil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3"/>
          <p:cNvSpPr/>
          <p:nvPr/>
        </p:nvSpPr>
        <p:spPr>
          <a:xfrm>
            <a:off x="5394960" y="3703320"/>
            <a:ext cx="280720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3333"/>
              </a:buClr>
              <a:buSzPts val="1100"/>
              <a:buFont typeface="Inter"/>
              <a:buNone/>
            </a:pPr>
            <a:r>
              <a:rPr b="0" i="1" lang="en-US" sz="1100" u="none" cap="none" strike="noStrike">
                <a:solidFill>
                  <a:srgbClr val="CC3333"/>
                </a:solidFill>
                <a:latin typeface="Inter"/>
                <a:ea typeface="Inter"/>
                <a:cs typeface="Inter"/>
                <a:sym typeface="Inter"/>
              </a:rPr>
              <a:t>Brazil already out — pick is void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3"/>
          <p:cNvSpPr/>
          <p:nvPr/>
        </p:nvSpPr>
        <p:spPr>
          <a:xfrm>
            <a:off x="4754880" y="4133088"/>
            <a:ext cx="3538728" cy="658368"/>
          </a:xfrm>
          <a:prstGeom prst="rect">
            <a:avLst/>
          </a:prstGeom>
          <a:solidFill>
            <a:srgbClr val="FFF3E0"/>
          </a:solidFill>
          <a:ln cap="flat" cmpd="sng" w="19050">
            <a:solidFill>
              <a:srgbClr val="FF9E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4754880" y="4133088"/>
            <a:ext cx="54864" cy="65836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3"/>
          <p:cNvSpPr/>
          <p:nvPr/>
        </p:nvSpPr>
        <p:spPr>
          <a:xfrm>
            <a:off x="4901184" y="4187952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31E27"/>
              </a:buClr>
              <a:buSzPts val="1150"/>
              <a:buFont typeface="Inter"/>
              <a:buNone/>
            </a:pPr>
            <a:r>
              <a:rPr b="0" i="0" lang="en-US" sz="1150" u="none" cap="none" strike="noStrike">
                <a:solidFill>
                  <a:srgbClr val="131E27"/>
                </a:solidFill>
                <a:latin typeface="Inter"/>
                <a:ea typeface="Inter"/>
                <a:cs typeface="Inter"/>
                <a:sym typeface="Inter"/>
              </a:rPr>
              <a:t>Brazil loses SF → their Final pick scores 0. Picks only score if the team is still in.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9EDF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4"/>
          <p:cNvSpPr/>
          <p:nvPr/>
        </p:nvSpPr>
        <p:spPr>
          <a:xfrm>
            <a:off x="457200" y="1600200"/>
            <a:ext cx="82296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Poppins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Have fun.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4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oppins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Best of luck!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4"/>
          <p:cNvSpPr/>
          <p:nvPr/>
        </p:nvSpPr>
        <p:spPr>
          <a:xfrm>
            <a:off x="3474720" y="3520440"/>
            <a:ext cx="2194560" cy="64008"/>
          </a:xfrm>
          <a:prstGeom prst="rect">
            <a:avLst/>
          </a:prstGeom>
          <a:solidFill>
            <a:srgbClr val="FF9E1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4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Inter"/>
              <a:buNone/>
            </a:pPr>
            <a:r>
              <a:rPr b="0" i="1" lang="en-US" sz="14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FIFA Men's 2026 World Cup · June 11 – July 19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/>
          <p:nvPr/>
        </p:nvSpPr>
        <p:spPr>
          <a:xfrm>
            <a:off x="411480" y="320040"/>
            <a:ext cx="8412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9EDF"/>
              </a:buClr>
              <a:buSzPts val="2800"/>
              <a:buFont typeface="Poppins"/>
              <a:buNone/>
            </a:pPr>
            <a:r>
              <a:rPr b="1" i="0" lang="en-US" sz="2800" u="none" cap="none" strike="noStrike">
                <a:solidFill>
                  <a:srgbClr val="009EDF"/>
                </a:solidFill>
                <a:latin typeface="Poppins"/>
                <a:ea typeface="Poppins"/>
                <a:cs typeface="Poppins"/>
                <a:sym typeface="Poppins"/>
              </a:rPr>
              <a:t>Host cities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11480" y="969264"/>
            <a:ext cx="8321040" cy="27432"/>
          </a:xfrm>
          <a:prstGeom prst="rect">
            <a:avLst/>
          </a:prstGeom>
          <a:solidFill>
            <a:srgbClr val="CCEC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411480" y="1042416"/>
            <a:ext cx="8321040" cy="3863340"/>
          </a:xfrm>
          <a:prstGeom prst="rect">
            <a:avLst/>
          </a:prstGeom>
          <a:solidFill>
            <a:srgbClr val="EEF4F8"/>
          </a:solidFill>
          <a:ln cap="flat" cmpd="sng" w="12700">
            <a:solidFill>
              <a:srgbClr val="CCECF9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sessions/exciting-charming-faraday/mnt/outputs/wc2026_map.png" id="149" name="Google Shape;14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42416"/>
            <a:ext cx="8321040" cy="38633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