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nxwAhTqy4y8" TargetMode="External"/><Relationship Id="rId2" Type="http://schemas.openxmlformats.org/officeDocument/2006/relationships/hyperlink" Target="https://www.youtube.com/watch?v=jdKKnClSWZg" TargetMode="External"/><Relationship Id="rId3" Type="http://schemas.openxmlformats.org/officeDocument/2006/relationships/hyperlink" Target="https://www.youtube.com/watch?v=pc0FLC8H7D8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9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0020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2026 Men's FIFA World Cup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474720" y="3328416"/>
            <a:ext cx="2194560" cy="6400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11 – July 19, 2026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 · Canada · Mexico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of the World Cup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78992"/>
            <a:ext cx="3886200" cy="38404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Facts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3721608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73936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682496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1930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645920" y="179222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3" name="Text 11"/>
          <p:cNvSpPr/>
          <p:nvPr/>
        </p:nvSpPr>
        <p:spPr>
          <a:xfrm>
            <a:off x="1737360" y="1682496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tournament held in Uruguay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340864"/>
            <a:ext cx="3721608" cy="6583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468880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37744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yrs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645920" y="2487168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8" name="Text 16"/>
          <p:cNvSpPr/>
          <p:nvPr/>
        </p:nvSpPr>
        <p:spPr>
          <a:xfrm>
            <a:off x="1737360" y="2377440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Played every four years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3035808"/>
            <a:ext cx="3721608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163824"/>
            <a:ext cx="73152" cy="40233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645920" y="3182112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3" name="Text 21"/>
          <p:cNvSpPr/>
          <p:nvPr/>
        </p:nvSpPr>
        <p:spPr>
          <a:xfrm>
            <a:off x="1737360" y="3072384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Nations have ever won it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3721608" cy="6583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3858768"/>
            <a:ext cx="73152" cy="402336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767328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645920" y="3877056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8" name="Text 26"/>
          <p:cNvSpPr/>
          <p:nvPr/>
        </p:nvSpPr>
        <p:spPr>
          <a:xfrm>
            <a:off x="1737360" y="3767328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lift the FIFA World Cup trophy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0" y="1078992"/>
            <a:ext cx="3886200" cy="384048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30" name="Image 0" descr="/sessions/exciting-charming-faraday/mnt/wc26/WorldCupTrophy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364" y="1115568"/>
            <a:ext cx="2633472" cy="351129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0" y="462686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CCC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FIFA World Cup Trophy · FIFA Museum, Zürich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Famous World Cup Moments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42416"/>
            <a:ext cx="2633472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1966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79576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271016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Stolen Trophy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1208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Pickles the Dog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21208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months before England hosted the World Cup, the Jules Rimet trophy was stolen from a public exhibition. A dog named Pickles found it wrapped in newspaper under a hedge on a routine walk.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England won the tournament. Pickles received a medal, a year's supply of dog food, and a film role.</a:t>
            </a:r>
            <a:endParaRPr lang="en-US" sz="1050" dirty="0"/>
          </a:p>
        </p:txBody>
      </p:sp>
      <p:sp>
        <p:nvSpPr>
          <p:cNvPr id="14" name="Text 12">
            <a:hlinkClick r:id="rId1" tooltip="Watch on YouTube"/>
          </p:cNvPr>
          <p:cNvSpPr/>
          <p:nvPr/>
        </p:nvSpPr>
        <p:spPr>
          <a:xfrm>
            <a:off x="521208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59836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59836" y="1042416"/>
            <a:ext cx="2633472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17" name="Text 15"/>
          <p:cNvSpPr/>
          <p:nvPr/>
        </p:nvSpPr>
        <p:spPr>
          <a:xfrm>
            <a:off x="3369564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1994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27932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119372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Open Goal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69564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Diana Ross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69564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2" name="Text 20"/>
          <p:cNvSpPr/>
          <p:nvPr/>
        </p:nvSpPr>
        <p:spPr>
          <a:xfrm>
            <a:off x="3369564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USA '94 opening ceremony featured Diana Ross taking a ceremonial penalty, with the goal rigged to split apart dramatically when she scored. She skied it wide from six yards.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 split apart anyway — on cue — to a ball nowhere near it. BBC: "I'm not sure that was supposed to happen."</a:t>
            </a:r>
            <a:endParaRPr lang="en-US" sz="1050" dirty="0"/>
          </a:p>
        </p:txBody>
      </p:sp>
      <p:sp>
        <p:nvSpPr>
          <p:cNvPr id="23" name="Text 21">
            <a:hlinkClick r:id="rId2" tooltip="Watch on YouTube"/>
          </p:cNvPr>
          <p:cNvSpPr/>
          <p:nvPr/>
        </p:nvSpPr>
        <p:spPr>
          <a:xfrm>
            <a:off x="3369564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08192" y="1042416"/>
            <a:ext cx="2633472" cy="3767328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08192" y="1042416"/>
            <a:ext cx="2633472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110642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76288" y="1179576"/>
            <a:ext cx="18288" cy="201168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967728" y="1106424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Oracle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17920" y="1554480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Paul the Octopus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217920" y="1883664"/>
            <a:ext cx="2414016" cy="1828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1938528"/>
            <a:ext cx="2414016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German aquarium octopus predicted World Cup results by choosing between two mussel-filled boxes marked with team flags. He went 8-for-8, correctly calling the final.</a:t>
            </a: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endParaRPr lang="en-US" sz="10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 received death threats, a state protection offer, and honorary citizenship from a Spanish town. He died peacefully four months later.</a:t>
            </a:r>
            <a:endParaRPr lang="en-US" sz="1050" dirty="0"/>
          </a:p>
        </p:txBody>
      </p:sp>
      <p:sp>
        <p:nvSpPr>
          <p:cNvPr id="32" name="Text 30">
            <a:hlinkClick r:id="rId3" tooltip="Watch on YouTube"/>
          </p:cNvPr>
          <p:cNvSpPr/>
          <p:nvPr/>
        </p:nvSpPr>
        <p:spPr>
          <a:xfrm>
            <a:off x="6217920" y="4462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9ED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Watch on YouTub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YouTube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World's Greatest Sporting Event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206</a:t>
            </a:r>
            <a:endParaRPr lang="en-US" sz="5600" dirty="0"/>
          </a:p>
        </p:txBody>
      </p:sp>
      <p:sp>
        <p:nvSpPr>
          <p:cNvPr id="9" name="Shape 7"/>
          <p:cNvSpPr/>
          <p:nvPr/>
        </p:nvSpPr>
        <p:spPr>
          <a:xfrm>
            <a:off x="594360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began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qualifying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87168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87168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7168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</a:t>
            </a:r>
            <a:endParaRPr lang="en-US" sz="5600" dirty="0"/>
          </a:p>
        </p:txBody>
      </p:sp>
      <p:sp>
        <p:nvSpPr>
          <p:cNvPr id="14" name="Shape 12"/>
          <p:cNvSpPr/>
          <p:nvPr/>
        </p:nvSpPr>
        <p:spPr>
          <a:xfrm>
            <a:off x="2670048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5" name="Text 13"/>
          <p:cNvSpPr/>
          <p:nvPr/>
        </p:nvSpPr>
        <p:spPr>
          <a:xfrm>
            <a:off x="2578608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tournament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62856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62856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8" name="Text 16"/>
          <p:cNvSpPr/>
          <p:nvPr/>
        </p:nvSpPr>
        <p:spPr>
          <a:xfrm>
            <a:off x="4562856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104</a:t>
            </a:r>
            <a:endParaRPr lang="en-US" sz="5600" dirty="0"/>
          </a:p>
        </p:txBody>
      </p:sp>
      <p:sp>
        <p:nvSpPr>
          <p:cNvPr id="19" name="Shape 17"/>
          <p:cNvSpPr/>
          <p:nvPr/>
        </p:nvSpPr>
        <p:spPr>
          <a:xfrm>
            <a:off x="4745736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0" name="Text 18"/>
          <p:cNvSpPr/>
          <p:nvPr/>
        </p:nvSpPr>
        <p:spPr>
          <a:xfrm>
            <a:off x="4654296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be played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38544" y="1143000"/>
            <a:ext cx="1874520" cy="2377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38544" y="1143000"/>
            <a:ext cx="1874520" cy="8229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3" name="Text 21"/>
          <p:cNvSpPr/>
          <p:nvPr/>
        </p:nvSpPr>
        <p:spPr>
          <a:xfrm>
            <a:off x="6638544" y="13258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5600" dirty="0"/>
          </a:p>
        </p:txBody>
      </p:sp>
      <p:sp>
        <p:nvSpPr>
          <p:cNvPr id="24" name="Shape 22"/>
          <p:cNvSpPr/>
          <p:nvPr/>
        </p:nvSpPr>
        <p:spPr>
          <a:xfrm>
            <a:off x="6821424" y="2606040"/>
            <a:ext cx="15087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5" name="Text 23"/>
          <p:cNvSpPr/>
          <p:nvPr/>
        </p:nvSpPr>
        <p:spPr>
          <a:xfrm>
            <a:off x="6729984" y="2697480"/>
            <a:ext cx="1691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football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11480" y="420624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from 32 teams — more underdogs, more upsets, more surprises.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Qualified Nations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42416"/>
            <a:ext cx="8321040" cy="3863340"/>
          </a:xfrm>
          <a:prstGeom prst="rect">
            <a:avLst/>
          </a:prstGeom>
          <a:solidFill>
            <a:srgbClr val="EEF4F8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sessions/exciting-charming-faraday/mnt/outputs/wc2026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42416"/>
            <a:ext cx="8321040" cy="38633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49423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UK polygon represents both England and Scotland (both qualify). Cape Verde and Curaçao are first-time qualifiers too small to appear on this map.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Champions &amp; Debutants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78992"/>
            <a:ext cx="3886200" cy="36118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World Cup Champions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160934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8 nations have ever won the World Cup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3721608" cy="3154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975104"/>
            <a:ext cx="3063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03320" y="1975104"/>
            <a:ext cx="50292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2272284"/>
            <a:ext cx="3721608" cy="3154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290572"/>
            <a:ext cx="3063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trike="sngStrike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Italy</a:t>
            </a:r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DNQ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03320" y="2290572"/>
            <a:ext cx="50292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BBB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587752"/>
            <a:ext cx="3721608" cy="3154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606040"/>
            <a:ext cx="3063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03320" y="2606040"/>
            <a:ext cx="50292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2903220"/>
            <a:ext cx="3721608" cy="3154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1508"/>
            <a:ext cx="3063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2921508"/>
            <a:ext cx="50292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3218688"/>
            <a:ext cx="3721608" cy="3154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236976"/>
            <a:ext cx="3063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Uruguay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703320" y="3236976"/>
            <a:ext cx="50292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3534156"/>
            <a:ext cx="3721608" cy="3154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552444"/>
            <a:ext cx="3063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France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03320" y="3552444"/>
            <a:ext cx="50292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02920" y="3849624"/>
            <a:ext cx="3721608" cy="3154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3867912"/>
            <a:ext cx="3063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England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703320" y="3867912"/>
            <a:ext cx="50292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2920" y="4165092"/>
            <a:ext cx="3721608" cy="315468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4183380"/>
            <a:ext cx="30632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703320" y="4183380"/>
            <a:ext cx="50292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572000" y="1078992"/>
            <a:ext cx="3886200" cy="361188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0" y="1078992"/>
            <a:ext cx="3886200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6" name="Text 34"/>
          <p:cNvSpPr/>
          <p:nvPr/>
        </p:nvSpPr>
        <p:spPr>
          <a:xfrm>
            <a:off x="473659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2026 Debutants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572000" y="1591056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200" dirty="0"/>
          </a:p>
        </p:txBody>
      </p:sp>
      <p:sp>
        <p:nvSpPr>
          <p:cNvPr id="38" name="Text 36"/>
          <p:cNvSpPr/>
          <p:nvPr/>
        </p:nvSpPr>
        <p:spPr>
          <a:xfrm>
            <a:off x="4754880" y="252374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First-ever World Cup appearances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029200" y="2907792"/>
            <a:ext cx="297180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3017520"/>
            <a:ext cx="54864" cy="27432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1" name="Text 39"/>
          <p:cNvSpPr/>
          <p:nvPr/>
        </p:nvSpPr>
        <p:spPr>
          <a:xfrm>
            <a:off x="4919472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Cabo Verde  (Cape Verde)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4773168" y="3401568"/>
            <a:ext cx="54864" cy="27432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3" name="Text 41"/>
          <p:cNvSpPr/>
          <p:nvPr/>
        </p:nvSpPr>
        <p:spPr>
          <a:xfrm>
            <a:off x="4919472" y="340156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Curaçao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4773168" y="3785616"/>
            <a:ext cx="54864" cy="27432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5" name="Text 43"/>
          <p:cNvSpPr/>
          <p:nvPr/>
        </p:nvSpPr>
        <p:spPr>
          <a:xfrm>
            <a:off x="4919472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Jordan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4773168" y="4169664"/>
            <a:ext cx="54864" cy="27432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7" name="Text 45"/>
          <p:cNvSpPr/>
          <p:nvPr/>
        </p:nvSpPr>
        <p:spPr>
          <a:xfrm>
            <a:off x="4919472" y="41696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Uzbekistan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Personal Note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78992"/>
            <a:ext cx="8321040" cy="352044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78992"/>
            <a:ext cx="109728" cy="352044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15214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09EDF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58368" y="1828800"/>
            <a:ext cx="7818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have been a World Cup fan since 1986, when I first saw Maradona help Argentina win. Since then, I have seen pretty much every game of the tournament on TV. But this is the first one I will see live (Ivory Coast v Curaçao on June 25).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8368" y="2880360"/>
            <a:ext cx="7818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have so many teams to support: USA, any African team (except Nigeria, which did not qualify), England (maybe), and Spain — my pick to win. I will also support any team to beat Brazil. Sorry.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818120" y="36576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6400" b="1" dirty="0">
                <a:solidFill>
                  <a:srgbClr val="009EDF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”</a:t>
            </a:r>
            <a:endParaRPr lang="en-US" sz="6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Group Stage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 11 – Jun 27,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078992"/>
            <a:ext cx="388620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Points Are Earned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60934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team plays 3 matches in their group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947672"/>
            <a:ext cx="3721608" cy="51206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9842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691640" y="207568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4" name="Text 12"/>
          <p:cNvSpPr/>
          <p:nvPr/>
        </p:nvSpPr>
        <p:spPr>
          <a:xfrm>
            <a:off x="1783080" y="198424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pts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721608" cy="512064"/>
          </a:xfrm>
          <a:prstGeom prst="rect">
            <a:avLst/>
          </a:prstGeom>
          <a:solidFill>
            <a:srgbClr val="FFFBE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53288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691640" y="262432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18" name="Text 16"/>
          <p:cNvSpPr/>
          <p:nvPr/>
        </p:nvSpPr>
        <p:spPr>
          <a:xfrm>
            <a:off x="1783080" y="253288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pt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02920" y="3044952"/>
            <a:ext cx="3721608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081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999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691640" y="3172968"/>
            <a:ext cx="27432" cy="274320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2" name="Text 20"/>
          <p:cNvSpPr/>
          <p:nvPr/>
        </p:nvSpPr>
        <p:spPr>
          <a:xfrm>
            <a:off x="1783080" y="3081528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9999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pts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02920" y="3685032"/>
            <a:ext cx="3721608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77647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advances?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" y="4069080"/>
            <a:ext cx="54864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50792"/>
            <a:ext cx="3447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 from each group qualify directly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4360" y="4416552"/>
            <a:ext cx="54864" cy="329184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4398264"/>
            <a:ext cx="3447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best 3rd-place teams (across all 12 groups) also advance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0" y="1078992"/>
            <a:ext cx="388620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0" y="1078992"/>
            <a:ext cx="3886200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1" name="Text 29"/>
          <p:cNvSpPr/>
          <p:nvPr/>
        </p:nvSpPr>
        <p:spPr>
          <a:xfrm>
            <a:off x="473659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Group Table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75488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can also advance — see left card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36592" y="1929384"/>
            <a:ext cx="3593592" cy="310896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34" name="Text 32"/>
          <p:cNvSpPr/>
          <p:nvPr/>
        </p:nvSpPr>
        <p:spPr>
          <a:xfrm>
            <a:off x="4828032" y="1947672"/>
            <a:ext cx="216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03720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60336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616952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73568" y="1947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36592" y="2240280"/>
            <a:ext cx="3593592" cy="420624"/>
          </a:xfrm>
          <a:prstGeom prst="rect">
            <a:avLst/>
          </a:prstGeom>
          <a:solidFill>
            <a:srgbClr val="EBF9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2240280"/>
            <a:ext cx="36576" cy="420624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2258568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03720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260336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616952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973568" y="2258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36592" y="2660904"/>
            <a:ext cx="3593592" cy="420624"/>
          </a:xfrm>
          <a:prstGeom prst="rect">
            <a:avLst/>
          </a:prstGeom>
          <a:solidFill>
            <a:srgbClr val="EBF9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36592" y="2660904"/>
            <a:ext cx="36576" cy="420624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8" name="Text 46"/>
          <p:cNvSpPr/>
          <p:nvPr/>
        </p:nvSpPr>
        <p:spPr>
          <a:xfrm>
            <a:off x="4828032" y="2679192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903720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260336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616952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973568" y="267919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736592" y="3081528"/>
            <a:ext cx="3593592" cy="420624"/>
          </a:xfrm>
          <a:prstGeom prst="rect">
            <a:avLst/>
          </a:prstGeom>
          <a:solidFill>
            <a:srgbClr val="FFF8EE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736592" y="3081528"/>
            <a:ext cx="36576" cy="420624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55" name="Text 53"/>
          <p:cNvSpPr/>
          <p:nvPr/>
        </p:nvSpPr>
        <p:spPr>
          <a:xfrm>
            <a:off x="4828032" y="3099816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6903720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260336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7616952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973568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4736592" y="3502152"/>
            <a:ext cx="359359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CCECF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28032" y="3520440"/>
            <a:ext cx="2112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Morocco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6903720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60336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616952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73568" y="3520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25F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4736592" y="4050792"/>
            <a:ext cx="36576" cy="18288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67" name="Text 65"/>
          <p:cNvSpPr/>
          <p:nvPr/>
        </p:nvSpPr>
        <p:spPr>
          <a:xfrm>
            <a:off x="4828032" y="4050792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direct qualifier (top 2)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736592" y="4270248"/>
            <a:ext cx="36576" cy="18288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9" name="Text 67"/>
          <p:cNvSpPr/>
          <p:nvPr/>
        </p:nvSpPr>
        <p:spPr>
          <a:xfrm>
            <a:off x="4828032" y="4270248"/>
            <a:ext cx="3483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3rd place, may qualify as one of 8 best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Knockout Stage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 28 – Jul 19,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078992"/>
            <a:ext cx="3886200" cy="393192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078992"/>
            <a:ext cx="388620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Bracket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teams · single-elimination · 5 rounds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084832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200253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32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200253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matches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459736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578608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249631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16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249631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matches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2953512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072384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299008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Quarterfinal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299008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matches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3447288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566160"/>
            <a:ext cx="109728" cy="219456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" y="348386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Semifinal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4838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matches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41064"/>
            <a:ext cx="3721608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059936"/>
            <a:ext cx="109728" cy="21945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397764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(SF losers)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397764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match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4434840"/>
            <a:ext cx="3721608" cy="457200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32" name="Shape 30"/>
          <p:cNvSpPr/>
          <p:nvPr/>
        </p:nvSpPr>
        <p:spPr>
          <a:xfrm>
            <a:off x="548640" y="4553712"/>
            <a:ext cx="109728" cy="219456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4714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447141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match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0" y="1078992"/>
            <a:ext cx="3886200" cy="393192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72000" y="1078992"/>
            <a:ext cx="3886200" cy="47548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7" name="Text 35"/>
          <p:cNvSpPr/>
          <p:nvPr/>
        </p:nvSpPr>
        <p:spPr>
          <a:xfrm>
            <a:off x="4736592" y="1152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a Match is Decided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75488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draws allowed — there must be a winner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54880" y="1965960"/>
            <a:ext cx="3520440" cy="804672"/>
          </a:xfrm>
          <a:prstGeom prst="rect">
            <a:avLst/>
          </a:prstGeom>
          <a:solidFill>
            <a:srgbClr val="EBF9FF"/>
          </a:solidFill>
          <a:ln w="19050">
            <a:solidFill>
              <a:srgbClr val="009ED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28032" y="2185416"/>
            <a:ext cx="365760" cy="365760"/>
          </a:xfrm>
          <a:prstGeom prst="ellipse">
            <a:avLst/>
          </a:prstGeom>
          <a:solidFill>
            <a:srgbClr val="009EDF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303520" y="203911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Regular Time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03520" y="236829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minutes (2 × 45 min halves)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54880" y="2779776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tied →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54880" y="2935224"/>
            <a:ext cx="35204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28032" y="3154680"/>
            <a:ext cx="365760" cy="365760"/>
          </a:xfrm>
          <a:prstGeom prst="ellipse">
            <a:avLst/>
          </a:prstGeom>
          <a:solidFill>
            <a:srgbClr val="525F66"/>
          </a:solidFill>
          <a:ln/>
        </p:spPr>
      </p:sp>
      <p:sp>
        <p:nvSpPr>
          <p:cNvPr id="47" name="Text 45"/>
          <p:cNvSpPr/>
          <p:nvPr/>
        </p:nvSpPr>
        <p:spPr>
          <a:xfrm>
            <a:off x="4828032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303520" y="30083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Time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303520" y="333756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× 15 min extra periods if still tied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754880" y="3749040"/>
            <a:ext cx="3520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tied →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54880" y="3904488"/>
            <a:ext cx="35204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28032" y="4123944"/>
            <a:ext cx="365760" cy="365760"/>
          </a:xfrm>
          <a:prstGeom prst="ellipse">
            <a:avLst/>
          </a:prstGeom>
          <a:solidFill>
            <a:srgbClr val="999999"/>
          </a:solidFill>
          <a:ln/>
        </p:spPr>
      </p:sp>
      <p:sp>
        <p:nvSpPr>
          <p:cNvPr id="53" name="Text 51"/>
          <p:cNvSpPr/>
          <p:nvPr/>
        </p:nvSpPr>
        <p:spPr>
          <a:xfrm>
            <a:off x="4828032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303520" y="39776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Penalty Shootout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5303520" y="43068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kicks each — sudden death if still tied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Bracket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78992"/>
            <a:ext cx="8321040" cy="3749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78992"/>
            <a:ext cx="832104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152144"/>
            <a:ext cx="8092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8-team bracket — showing from the Quarterfinals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188720" y="1627632"/>
            <a:ext cx="1965960" cy="256032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Quarter-final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11880" y="1627632"/>
            <a:ext cx="1965960" cy="256032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Semi-final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627632"/>
            <a:ext cx="1965960" cy="256032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162763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54680" y="224942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2999232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83280" y="2249424"/>
            <a:ext cx="0" cy="749808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83280" y="262432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4680" y="3749040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54680" y="449884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3749040"/>
            <a:ext cx="0" cy="749808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3280" y="412394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77840" y="2624328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77840" y="4123944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06440" y="2624328"/>
            <a:ext cx="0" cy="1499616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06440" y="3374136"/>
            <a:ext cx="228600" cy="0"/>
          </a:xfrm>
          <a:prstGeom prst="line">
            <a:avLst/>
          </a:prstGeom>
          <a:noFill/>
          <a:ln w="19050">
            <a:solidFill>
              <a:srgbClr val="CCEC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1965960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1965960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9" name="Text 27"/>
          <p:cNvSpPr/>
          <p:nvPr/>
        </p:nvSpPr>
        <p:spPr>
          <a:xfrm>
            <a:off x="1280160" y="196596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188720" y="2221992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1" name="Shape 29"/>
          <p:cNvSpPr/>
          <p:nvPr/>
        </p:nvSpPr>
        <p:spPr>
          <a:xfrm>
            <a:off x="1188720" y="2249424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280160" y="224942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France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188720" y="2715768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88720" y="2715768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5" name="Text 33"/>
          <p:cNvSpPr/>
          <p:nvPr/>
        </p:nvSpPr>
        <p:spPr>
          <a:xfrm>
            <a:off x="1280160" y="271576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188720" y="2971800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7" name="Shape 35"/>
          <p:cNvSpPr/>
          <p:nvPr/>
        </p:nvSpPr>
        <p:spPr>
          <a:xfrm>
            <a:off x="1188720" y="2999232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280160" y="299923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England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88720" y="3465576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88720" y="3465576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1" name="Text 39"/>
          <p:cNvSpPr/>
          <p:nvPr/>
        </p:nvSpPr>
        <p:spPr>
          <a:xfrm>
            <a:off x="1280160" y="3465576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88720" y="3721608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3" name="Shape 41"/>
          <p:cNvSpPr/>
          <p:nvPr/>
        </p:nvSpPr>
        <p:spPr>
          <a:xfrm>
            <a:off x="1188720" y="3749040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1280160" y="374904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188720" y="4215384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88720" y="4215384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7" name="Text 45"/>
          <p:cNvSpPr/>
          <p:nvPr/>
        </p:nvSpPr>
        <p:spPr>
          <a:xfrm>
            <a:off x="1280160" y="421538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188720" y="4471416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49" name="Shape 47"/>
          <p:cNvSpPr/>
          <p:nvPr/>
        </p:nvSpPr>
        <p:spPr>
          <a:xfrm>
            <a:off x="1188720" y="4498848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1280160" y="449884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Morocco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11880" y="2340864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611880" y="2340864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53" name="Text 51"/>
          <p:cNvSpPr/>
          <p:nvPr/>
        </p:nvSpPr>
        <p:spPr>
          <a:xfrm>
            <a:off x="3703320" y="234086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11880" y="2596896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55" name="Shape 53"/>
          <p:cNvSpPr/>
          <p:nvPr/>
        </p:nvSpPr>
        <p:spPr>
          <a:xfrm>
            <a:off x="3611880" y="2624328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703320" y="2624328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Germany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3611880" y="3840480"/>
            <a:ext cx="196596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CCECF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11880" y="3840480"/>
            <a:ext cx="1965960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3840480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611880" y="4096512"/>
            <a:ext cx="196596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1" name="Shape 59"/>
          <p:cNvSpPr/>
          <p:nvPr/>
        </p:nvSpPr>
        <p:spPr>
          <a:xfrm>
            <a:off x="3611880" y="4123944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3703320" y="4123944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BBB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035040" y="3090672"/>
            <a:ext cx="196596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FF9E1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035040" y="3090672"/>
            <a:ext cx="196596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6126480" y="309067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Spain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035040" y="3346704"/>
            <a:ext cx="1965960" cy="27432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5040" y="3374136"/>
            <a:ext cx="196596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6126480" y="3374136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Argentina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035040" y="3730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E1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Champion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Pool: Group Stage Picks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Due: Jun 11,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" y="1115568"/>
            <a:ext cx="2468880" cy="96012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722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1722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 to pick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115568"/>
            <a:ext cx="2468880" cy="960120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3756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 per correct pick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7900" y="1115568"/>
            <a:ext cx="2468880" cy="960120"/>
          </a:xfrm>
          <a:prstGeom prst="rect">
            <a:avLst/>
          </a:prstGeom>
          <a:solidFill>
            <a:srgbClr val="009EDF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57900" y="11704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144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057900" y="1691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available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276856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1E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 pick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596896"/>
            <a:ext cx="8321040" cy="146304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each match, pick one: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43000" y="3035808"/>
            <a:ext cx="2103120" cy="658368"/>
          </a:xfrm>
          <a:prstGeom prst="rect">
            <a:avLst/>
          </a:prstGeom>
          <a:solidFill>
            <a:srgbClr val="009EDF"/>
          </a:solidFill>
          <a:ln w="25400">
            <a:solidFill>
              <a:srgbClr val="009EDF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4300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1 Win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e.g. Brazil wins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20440" y="3035808"/>
            <a:ext cx="2103120" cy="658368"/>
          </a:xfrm>
          <a:prstGeom prst="rect">
            <a:avLst/>
          </a:prstGeom>
          <a:solidFill>
            <a:srgbClr val="FFF8E6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6A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52044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ends level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97880" y="3035808"/>
            <a:ext cx="2103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97880" y="30906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25F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2 Win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897880" y="34015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e.g. Germany wins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11480" y="4261104"/>
            <a:ext cx="4069080" cy="658368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" y="426110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pts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280160" y="439826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1" name="Text 29"/>
          <p:cNvSpPr/>
          <p:nvPr/>
        </p:nvSpPr>
        <p:spPr>
          <a:xfrm>
            <a:off x="1371600" y="4261104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each correct pick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0" y="4261104"/>
            <a:ext cx="4069080" cy="658368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81728" y="426110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pts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440680" y="4398264"/>
            <a:ext cx="18288" cy="384048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35" name="Text 33"/>
          <p:cNvSpPr/>
          <p:nvPr/>
        </p:nvSpPr>
        <p:spPr>
          <a:xfrm>
            <a:off x="5532120" y="4261104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wrong pick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9ED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Pool: Knockout Picks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969264"/>
            <a:ext cx="8321040" cy="27432"/>
          </a:xfrm>
          <a:prstGeom prst="rect">
            <a:avLst/>
          </a:prstGeom>
          <a:solidFill>
            <a:srgbClr val="CCECF9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Due: Jun 28,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3886200" cy="388620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115568"/>
            <a:ext cx="3886200" cy="475488"/>
          </a:xfrm>
          <a:prstGeom prst="rect">
            <a:avLst/>
          </a:prstGeom>
          <a:solidFill>
            <a:srgbClr val="131E27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Points by Round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6459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increase each round — pick further, earn more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993392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103120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32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075688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2075688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395728"/>
            <a:ext cx="3721608" cy="37490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505456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4231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of 16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478024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0" y="2478024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2907792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825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Quarter-final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74720" y="2880360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2880360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pts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200400"/>
            <a:ext cx="3721608" cy="374904"/>
          </a:xfrm>
          <a:prstGeom prst="rect">
            <a:avLst/>
          </a:prstGeom>
          <a:solidFill>
            <a:srgbClr val="EBF9FF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10128"/>
            <a:ext cx="91440" cy="155448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2278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Semi-final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74720" y="3282696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0" name="Text 28"/>
          <p:cNvSpPr/>
          <p:nvPr/>
        </p:nvSpPr>
        <p:spPr>
          <a:xfrm>
            <a:off x="3474720" y="3282696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pts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3602736"/>
            <a:ext cx="3721608" cy="374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548640" y="3712464"/>
            <a:ext cx="91440" cy="155448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630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Place (SF losers)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74720" y="3685032"/>
            <a:ext cx="713232" cy="2103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35" name="Text 33"/>
          <p:cNvSpPr/>
          <p:nvPr/>
        </p:nvSpPr>
        <p:spPr>
          <a:xfrm>
            <a:off x="3474720" y="3685032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pts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005072"/>
            <a:ext cx="3721608" cy="374904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91440" cy="15544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03250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474720" y="4087368"/>
            <a:ext cx="713232" cy="210312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0" name="Text 38"/>
          <p:cNvSpPr/>
          <p:nvPr/>
        </p:nvSpPr>
        <p:spPr>
          <a:xfrm>
            <a:off x="3474720" y="4087368"/>
            <a:ext cx="713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pts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4462272"/>
            <a:ext cx="3721608" cy="43891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42" name="Text 40"/>
          <p:cNvSpPr/>
          <p:nvPr/>
        </p:nvSpPr>
        <p:spPr>
          <a:xfrm>
            <a:off x="731520" y="446227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Max total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474720" y="4462272"/>
            <a:ext cx="7132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pts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72000" y="1115568"/>
            <a:ext cx="3886200" cy="3886200"/>
          </a:xfrm>
          <a:prstGeom prst="rect">
            <a:avLst/>
          </a:prstGeom>
          <a:solidFill>
            <a:srgbClr val="F7F7F7"/>
          </a:solidFill>
          <a:ln w="12700">
            <a:solidFill>
              <a:srgbClr val="CCEC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572000" y="1115568"/>
            <a:ext cx="3886200" cy="47548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46" name="Text 44"/>
          <p:cNvSpPr/>
          <p:nvPr/>
        </p:nvSpPr>
        <p:spPr>
          <a:xfrm>
            <a:off x="4736592" y="1188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Cascade Rule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75488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knockout picks must survive to score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54880" y="1993392"/>
            <a:ext cx="3538728" cy="603504"/>
          </a:xfrm>
          <a:prstGeom prst="rect">
            <a:avLst/>
          </a:prstGeom>
          <a:solidFill>
            <a:srgbClr val="EBF9FF"/>
          </a:solidFill>
          <a:ln w="12700">
            <a:solidFill>
              <a:srgbClr val="CCECF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8032" y="2103120"/>
            <a:ext cx="475488" cy="256032"/>
          </a:xfrm>
          <a:prstGeom prst="rect">
            <a:avLst/>
          </a:prstGeom>
          <a:solidFill>
            <a:srgbClr val="009EDF"/>
          </a:solidFill>
          <a:ln/>
        </p:spPr>
      </p:sp>
      <p:sp>
        <p:nvSpPr>
          <p:cNvPr id="50" name="Text 48"/>
          <p:cNvSpPr/>
          <p:nvPr/>
        </p:nvSpPr>
        <p:spPr>
          <a:xfrm>
            <a:off x="4828032" y="2103120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QF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0" y="202996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394960" y="2313432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wins QF  ✓ scores 12 pts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54880" y="2606040"/>
            <a:ext cx="3538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54880" y="2688336"/>
            <a:ext cx="3538728" cy="603504"/>
          </a:xfrm>
          <a:prstGeom prst="rect">
            <a:avLst/>
          </a:prstGeom>
          <a:solidFill>
            <a:srgbClr val="FFF0F0"/>
          </a:solidFill>
          <a:ln w="12700">
            <a:solidFill>
              <a:srgbClr val="F4A7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28032" y="2798064"/>
            <a:ext cx="475488" cy="256032"/>
          </a:xfrm>
          <a:prstGeom prst="rect">
            <a:avLst/>
          </a:prstGeom>
          <a:solidFill>
            <a:srgbClr val="E05050"/>
          </a:solidFill>
          <a:ln/>
        </p:spPr>
      </p:sp>
      <p:sp>
        <p:nvSpPr>
          <p:cNvPr id="56" name="Text 54"/>
          <p:cNvSpPr/>
          <p:nvPr/>
        </p:nvSpPr>
        <p:spPr>
          <a:xfrm>
            <a:off x="4828032" y="2798064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SF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394960" y="272491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394960" y="3008376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LOSES SF  ✗ scores 0 pts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880" y="3300984"/>
            <a:ext cx="35387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F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4880" y="3383280"/>
            <a:ext cx="3538728" cy="603504"/>
          </a:xfrm>
          <a:prstGeom prst="rect">
            <a:avLst/>
          </a:prstGeom>
          <a:solidFill>
            <a:srgbClr val="FFF0F0"/>
          </a:solidFill>
          <a:ln w="12700">
            <a:solidFill>
              <a:srgbClr val="F4A7A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28032" y="3493008"/>
            <a:ext cx="475488" cy="256032"/>
          </a:xfrm>
          <a:prstGeom prst="rect">
            <a:avLst/>
          </a:prstGeom>
          <a:solidFill>
            <a:srgbClr val="E05050"/>
          </a:solidFill>
          <a:ln/>
        </p:spPr>
      </p:sp>
      <p:sp>
        <p:nvSpPr>
          <p:cNvPr id="62" name="Text 60"/>
          <p:cNvSpPr/>
          <p:nvPr/>
        </p:nvSpPr>
        <p:spPr>
          <a:xfrm>
            <a:off x="4828032" y="349300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394960" y="34198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Pick: Brazil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394960" y="3703320"/>
            <a:ext cx="280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C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already out — pick is void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754880" y="4133088"/>
            <a:ext cx="3538728" cy="658368"/>
          </a:xfrm>
          <a:prstGeom prst="rect">
            <a:avLst/>
          </a:prstGeom>
          <a:solidFill>
            <a:srgbClr val="FFF3E0"/>
          </a:solidFill>
          <a:ln w="19050">
            <a:solidFill>
              <a:srgbClr val="FF9E1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754880" y="4133088"/>
            <a:ext cx="54864" cy="65836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7" name="Text 65"/>
          <p:cNvSpPr/>
          <p:nvPr/>
        </p:nvSpPr>
        <p:spPr>
          <a:xfrm>
            <a:off x="4901184" y="41879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31E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Brazil loses SF → their Final pick scores 0. Picks only score if the team is still in.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9E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0020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Have fun.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of luck!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474720" y="3520440"/>
            <a:ext cx="2194560" cy="64008"/>
          </a:xfrm>
          <a:prstGeom prst="rect">
            <a:avLst/>
          </a:prstGeom>
          <a:solidFill>
            <a:srgbClr val="FF9E1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FIFA Men's 2026 World Cup · June 11 – July 19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 Cup 2026 Pool</dc:title>
  <dc:subject>PptxGenJS Presentation</dc:subject>
  <dc:creator/>
  <cp:lastModifiedBy/>
  <cp:revision>1</cp:revision>
  <dcterms:created xsi:type="dcterms:W3CDTF">2026-05-31T22:51:38Z</dcterms:created>
  <dcterms:modified xsi:type="dcterms:W3CDTF">2026-05-31T22:51:38Z</dcterms:modified>
</cp:coreProperties>
</file>