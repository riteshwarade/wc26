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9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9E16"/>
          </a:solidFill>
          <a:ln/>
        </p:spPr>
      </p:sp>
      <p:pic>
        <p:nvPicPr>
          <p:cNvPr id="3" name="Image 0" descr="/sessions/exciting-charming-faraday/mnt/.claude/skills/swiftly-brand-guidelines/assets/logos/png/swiftly-logo_white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737360" cy="4663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002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World Cup 2026 Pool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474720" y="3328416"/>
            <a:ext cx="2194560" cy="64008"/>
          </a:xfrm>
          <a:prstGeom prst="rect">
            <a:avLst/>
          </a:prstGeom>
          <a:solidFill>
            <a:srgbClr val="FF9E1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11 – July 19, 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 · Canada · Mexico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9E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ED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E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World's Greatest Sporting Event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789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first time ever, the tournament is hosted by three countries: the USA, Canada, and Mexico.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1874520" cy="2377440"/>
          </a:xfrm>
          <a:prstGeom prst="rect">
            <a:avLst/>
          </a:prstGeom>
          <a:solidFill>
            <a:srgbClr val="EBF9FF"/>
          </a:solidFill>
          <a:ln w="12700">
            <a:solidFill>
              <a:srgbClr val="CCEC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572768"/>
            <a:ext cx="1874520" cy="82296"/>
          </a:xfrm>
          <a:prstGeom prst="rect">
            <a:avLst/>
          </a:prstGeom>
          <a:solidFill>
            <a:srgbClr val="009ED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75564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9E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206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594360" y="3035808"/>
            <a:ext cx="1508760" cy="27432"/>
          </a:xfrm>
          <a:prstGeom prst="rect">
            <a:avLst/>
          </a:prstGeom>
          <a:solidFill>
            <a:srgbClr val="CCECF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27248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began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qualifying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87168" y="1572768"/>
            <a:ext cx="1874520" cy="2377440"/>
          </a:xfrm>
          <a:prstGeom prst="rect">
            <a:avLst/>
          </a:prstGeom>
          <a:solidFill>
            <a:srgbClr val="EBF9FF"/>
          </a:solidFill>
          <a:ln w="12700">
            <a:solidFill>
              <a:srgbClr val="CCEC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87168" y="1572768"/>
            <a:ext cx="1874520" cy="82296"/>
          </a:xfrm>
          <a:prstGeom prst="rect">
            <a:avLst/>
          </a:prstGeom>
          <a:solidFill>
            <a:srgbClr val="009EDF"/>
          </a:solidFill>
          <a:ln/>
        </p:spPr>
      </p:sp>
      <p:sp>
        <p:nvSpPr>
          <p:cNvPr id="14" name="Text 12"/>
          <p:cNvSpPr/>
          <p:nvPr/>
        </p:nvSpPr>
        <p:spPr>
          <a:xfrm>
            <a:off x="2487168" y="175564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9E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48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2670048" y="3035808"/>
            <a:ext cx="1508760" cy="27432"/>
          </a:xfrm>
          <a:prstGeom prst="rect">
            <a:avLst/>
          </a:prstGeom>
          <a:solidFill>
            <a:srgbClr val="CCECF9"/>
          </a:solidFill>
          <a:ln/>
        </p:spPr>
      </p:sp>
      <p:sp>
        <p:nvSpPr>
          <p:cNvPr id="16" name="Text 14"/>
          <p:cNvSpPr/>
          <p:nvPr/>
        </p:nvSpPr>
        <p:spPr>
          <a:xfrm>
            <a:off x="2578608" y="3127248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in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tournament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62856" y="1572768"/>
            <a:ext cx="1874520" cy="2377440"/>
          </a:xfrm>
          <a:prstGeom prst="rect">
            <a:avLst/>
          </a:prstGeom>
          <a:solidFill>
            <a:srgbClr val="EBF9FF"/>
          </a:solidFill>
          <a:ln w="12700">
            <a:solidFill>
              <a:srgbClr val="CCEC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62856" y="1572768"/>
            <a:ext cx="1874520" cy="82296"/>
          </a:xfrm>
          <a:prstGeom prst="rect">
            <a:avLst/>
          </a:prstGeom>
          <a:solidFill>
            <a:srgbClr val="009EDF"/>
          </a:solidFill>
          <a:ln/>
        </p:spPr>
      </p:sp>
      <p:sp>
        <p:nvSpPr>
          <p:cNvPr id="19" name="Text 17"/>
          <p:cNvSpPr/>
          <p:nvPr/>
        </p:nvSpPr>
        <p:spPr>
          <a:xfrm>
            <a:off x="4562856" y="175564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9E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104</a:t>
            </a:r>
            <a:endParaRPr lang="en-US" sz="5600" dirty="0"/>
          </a:p>
        </p:txBody>
      </p:sp>
      <p:sp>
        <p:nvSpPr>
          <p:cNvPr id="20" name="Shape 18"/>
          <p:cNvSpPr/>
          <p:nvPr/>
        </p:nvSpPr>
        <p:spPr>
          <a:xfrm>
            <a:off x="4745736" y="3035808"/>
            <a:ext cx="1508760" cy="27432"/>
          </a:xfrm>
          <a:prstGeom prst="rect">
            <a:avLst/>
          </a:prstGeom>
          <a:solidFill>
            <a:srgbClr val="CCECF9"/>
          </a:solidFill>
          <a:ln/>
        </p:spPr>
      </p:sp>
      <p:sp>
        <p:nvSpPr>
          <p:cNvPr id="21" name="Text 19"/>
          <p:cNvSpPr/>
          <p:nvPr/>
        </p:nvSpPr>
        <p:spPr>
          <a:xfrm>
            <a:off x="4654296" y="3127248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played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38544" y="1572768"/>
            <a:ext cx="1874520" cy="2377440"/>
          </a:xfrm>
          <a:prstGeom prst="rect">
            <a:avLst/>
          </a:prstGeom>
          <a:solidFill>
            <a:srgbClr val="EBF9FF"/>
          </a:solidFill>
          <a:ln w="12700">
            <a:solidFill>
              <a:srgbClr val="CCEC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38544" y="1572768"/>
            <a:ext cx="1874520" cy="82296"/>
          </a:xfrm>
          <a:prstGeom prst="rect">
            <a:avLst/>
          </a:prstGeom>
          <a:solidFill>
            <a:srgbClr val="009EDF"/>
          </a:solidFill>
          <a:ln/>
        </p:spPr>
      </p:sp>
      <p:sp>
        <p:nvSpPr>
          <p:cNvPr id="24" name="Text 22"/>
          <p:cNvSpPr/>
          <p:nvPr/>
        </p:nvSpPr>
        <p:spPr>
          <a:xfrm>
            <a:off x="6638544" y="175564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9E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</a:t>
            </a:r>
            <a:endParaRPr lang="en-US" sz="5600" dirty="0"/>
          </a:p>
        </p:txBody>
      </p:sp>
      <p:sp>
        <p:nvSpPr>
          <p:cNvPr id="25" name="Shape 23"/>
          <p:cNvSpPr/>
          <p:nvPr/>
        </p:nvSpPr>
        <p:spPr>
          <a:xfrm>
            <a:off x="6821424" y="3035808"/>
            <a:ext cx="1508760" cy="27432"/>
          </a:xfrm>
          <a:prstGeom prst="rect">
            <a:avLst/>
          </a:prstGeom>
          <a:solidFill>
            <a:srgbClr val="CCECF9"/>
          </a:solidFill>
          <a:ln/>
        </p:spPr>
      </p:sp>
      <p:sp>
        <p:nvSpPr>
          <p:cNvPr id="26" name="Text 24"/>
          <p:cNvSpPr/>
          <p:nvPr/>
        </p:nvSpPr>
        <p:spPr>
          <a:xfrm>
            <a:off x="6729984" y="3127248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football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2062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32 teams — more underdogs, more upsets, more surprises.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9E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ED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E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Champions &amp; Debutants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78992"/>
            <a:ext cx="3886200" cy="3611880"/>
          </a:xfrm>
          <a:prstGeom prst="rect">
            <a:avLst/>
          </a:prstGeom>
          <a:solidFill>
            <a:srgbClr val="F7F7F7"/>
          </a:solidFill>
          <a:ln w="12700">
            <a:solidFill>
              <a:srgbClr val="CCEC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78992"/>
            <a:ext cx="3886200" cy="475488"/>
          </a:xfrm>
          <a:prstGeom prst="rect">
            <a:avLst/>
          </a:prstGeom>
          <a:solidFill>
            <a:srgbClr val="009EDF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152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World Cup Champions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3611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1E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Brazil — 5 titles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1E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Germany — 4 titles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1E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Argentina — 3 titles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1E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Uruguay — 2 titles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1E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France — 2 titles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1E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England — 1 title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1E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Spain — 1 title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42519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Italy (4 titles) did not qualify for this tournament.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78992"/>
            <a:ext cx="3886200" cy="3611880"/>
          </a:xfrm>
          <a:prstGeom prst="rect">
            <a:avLst/>
          </a:prstGeom>
          <a:solidFill>
            <a:srgbClr val="F7F7F7"/>
          </a:solidFill>
          <a:ln w="12700">
            <a:solidFill>
              <a:srgbClr val="CCEC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078992"/>
            <a:ext cx="3886200" cy="475488"/>
          </a:xfrm>
          <a:prstGeom prst="rect">
            <a:avLst/>
          </a:prstGeom>
          <a:solidFill>
            <a:srgbClr val="FF9E16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1152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World Cup Debutants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73168" y="1673352"/>
            <a:ext cx="34838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C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728216"/>
            <a:ext cx="3383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E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Cabo Verde (Cape Verde)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73168" y="2295144"/>
            <a:ext cx="34838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C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350008"/>
            <a:ext cx="3383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E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Curaçao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2916936"/>
            <a:ext cx="34838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C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971800"/>
            <a:ext cx="3383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E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Jordan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73168" y="3538728"/>
            <a:ext cx="34838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C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93592"/>
            <a:ext cx="3383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E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Uzbekistan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73168" y="41605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teams making their first-ever World Cup appearance.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9E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ED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E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Personal Note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78992"/>
            <a:ext cx="8321040" cy="3520440"/>
          </a:xfrm>
          <a:prstGeom prst="rect">
            <a:avLst/>
          </a:prstGeom>
          <a:solidFill>
            <a:srgbClr val="EBF9FF"/>
          </a:solidFill>
          <a:ln w="12700">
            <a:solidFill>
              <a:srgbClr val="CCEC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78992"/>
            <a:ext cx="109728" cy="3520440"/>
          </a:xfrm>
          <a:prstGeom prst="rect">
            <a:avLst/>
          </a:prstGeom>
          <a:solidFill>
            <a:srgbClr val="FF9E1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5214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09EDF">
                    <a:alpha val="6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58368" y="1828800"/>
            <a:ext cx="7818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31E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have been a World Cup fan since 1986, when I first saw Maradona help Argentina win. Since then, I have seen pretty much every game of the tournament on TV. But this is the first one I will see live (Ivory Coast v Curaçao on June 25).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" y="2880360"/>
            <a:ext cx="7818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31E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have so many teams to support: USA, any African team (except Nigeria, which did not qualify), England (maybe), and Spain — my pick to win. I will also support any team to beat Brazil. Sorry.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18120" y="36576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009EDF">
                    <a:alpha val="6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”</a:t>
            </a:r>
            <a:endParaRPr lang="en-US" sz="6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9E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ED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E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the Tournament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78992"/>
            <a:ext cx="3886200" cy="3749040"/>
          </a:xfrm>
          <a:prstGeom prst="rect">
            <a:avLst/>
          </a:prstGeom>
          <a:solidFill>
            <a:srgbClr val="F7F7F7"/>
          </a:solidFill>
          <a:ln w="12700">
            <a:solidFill>
              <a:srgbClr val="CCEC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78992"/>
            <a:ext cx="3886200" cy="475488"/>
          </a:xfrm>
          <a:prstGeom prst="rect">
            <a:avLst/>
          </a:prstGeom>
          <a:solidFill>
            <a:srgbClr val="009EDF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152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Group Stage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3630168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groups of 4 teams each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team plays 3 matches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can end in a win or a draw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2 from each group advance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the 8 best 3rd-place teams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teams reach the knockout round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078992"/>
            <a:ext cx="3886200" cy="3749040"/>
          </a:xfrm>
          <a:prstGeom prst="rect">
            <a:avLst/>
          </a:prstGeom>
          <a:solidFill>
            <a:srgbClr val="F7F7F7"/>
          </a:solidFill>
          <a:ln w="12700">
            <a:solidFill>
              <a:srgbClr val="CCEC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78992"/>
            <a:ext cx="3886200" cy="475488"/>
          </a:xfrm>
          <a:prstGeom prst="rect">
            <a:avLst/>
          </a:prstGeom>
          <a:solidFill>
            <a:srgbClr val="131E27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1152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Knockout Stage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1645920"/>
            <a:ext cx="3630168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teams in a bracket (march madness style)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match needs a winner — no draws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Tied after 90 min → 30 extra minutes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Still tied → penalty shootout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rounds: R32 → R16 → QF → SF → Final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 place match runs alongside the semis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9E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ED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E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Pool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789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two-stage structure. Each stage is picked separately.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886200" cy="2926080"/>
          </a:xfrm>
          <a:prstGeom prst="rect">
            <a:avLst/>
          </a:prstGeom>
          <a:solidFill>
            <a:srgbClr val="F7F7F7"/>
          </a:solidFill>
          <a:ln w="12700">
            <a:solidFill>
              <a:srgbClr val="CCEC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508760"/>
            <a:ext cx="3886200" cy="475488"/>
          </a:xfrm>
          <a:prstGeom prst="rect">
            <a:avLst/>
          </a:prstGeom>
          <a:solidFill>
            <a:srgbClr val="009EDF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581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Group Stage Picks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075688"/>
            <a:ext cx="3538728" cy="420624"/>
          </a:xfrm>
          <a:prstGeom prst="rect">
            <a:avLst/>
          </a:prstGeom>
          <a:solidFill>
            <a:srgbClr val="CCECF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075688"/>
            <a:ext cx="3538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E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 to 144 points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578608"/>
            <a:ext cx="363016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result of all 72 group matches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win, away win, or draw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points for each correct pick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before June 11 kick-off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3886200" cy="2926080"/>
          </a:xfrm>
          <a:prstGeom prst="rect">
            <a:avLst/>
          </a:prstGeom>
          <a:solidFill>
            <a:srgbClr val="F7F7F7"/>
          </a:solidFill>
          <a:ln w="12700">
            <a:solidFill>
              <a:srgbClr val="CCEC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508760"/>
            <a:ext cx="3886200" cy="475488"/>
          </a:xfrm>
          <a:prstGeom prst="rect">
            <a:avLst/>
          </a:prstGeom>
          <a:solidFill>
            <a:srgbClr val="131E27"/>
          </a:solidFill>
          <a:ln/>
        </p:spPr>
      </p:sp>
      <p:sp>
        <p:nvSpPr>
          <p:cNvPr id="15" name="Text 13"/>
          <p:cNvSpPr/>
          <p:nvPr/>
        </p:nvSpPr>
        <p:spPr>
          <a:xfrm>
            <a:off x="4736592" y="1581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Knockout Picks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2075688"/>
            <a:ext cx="3538728" cy="420624"/>
          </a:xfrm>
          <a:prstGeom prst="rect">
            <a:avLst/>
          </a:prstGeom>
          <a:solidFill>
            <a:srgbClr val="CCECF9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075688"/>
            <a:ext cx="3538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E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 to 244 points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578608"/>
            <a:ext cx="363016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winner of every knockout game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rounds: 4 pts (R32) up to 24 pts (Final)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after group stage ends (~June 27)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Cascade: if your pick is knocked out early, that later-round pick scores 0 — choose wisely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" y="4572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Knockout scoring: R32 = 4 pts · R16 = 8 · QF = 12 · SF = 16 · 3rd = 12 · Final = 24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9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9E16"/>
          </a:solidFill>
          <a:ln/>
        </p:spPr>
      </p:sp>
      <p:pic>
        <p:nvPicPr>
          <p:cNvPr id="3" name="Image 0" descr="/sessions/exciting-charming-faraday/mnt/.claude/skills/swiftly-brand-guidelines/assets/logos/png/swiftly-logo_white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737360" cy="4663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002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Have fun.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 of luck!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3474720" y="3520440"/>
            <a:ext cx="2194560" cy="64008"/>
          </a:xfrm>
          <a:prstGeom prst="rect">
            <a:avLst/>
          </a:prstGeom>
          <a:solidFill>
            <a:srgbClr val="FF9E1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FIFA Men's 2026 World Cup · June 11 – July 19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Cup 2026 Pool</dc:title>
  <dc:subject>PptxGenJS Presentation</dc:subject>
  <dc:creator>Swiftly</dc:creator>
  <cp:lastModifiedBy>Swiftly</cp:lastModifiedBy>
  <cp:revision>1</cp:revision>
  <dcterms:created xsi:type="dcterms:W3CDTF">2026-05-30T22:14:14Z</dcterms:created>
  <dcterms:modified xsi:type="dcterms:W3CDTF">2026-05-30T22:14:14Z</dcterms:modified>
</cp:coreProperties>
</file>