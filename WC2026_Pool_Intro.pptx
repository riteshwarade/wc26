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nxwAhTqy4y8" TargetMode="External"/><Relationship Id="rId2" Type="http://schemas.openxmlformats.org/officeDocument/2006/relationships/hyperlink" Target="https://www.youtube.com/watch?v=jdKKnClSWZg" TargetMode="External"/><Relationship Id="rId3" Type="http://schemas.openxmlformats.org/officeDocument/2006/relationships/hyperlink" Target="https://www.youtube.com/watch?v=pc0FLC8H7D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Men's FIFA World Cup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474720" y="3328416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11 – July 19,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 · Canada · Mexico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of the World Cup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78992"/>
            <a:ext cx="3886200" cy="38404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Facts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773936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8249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1930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45920" y="179222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1" name="Text 9"/>
          <p:cNvSpPr/>
          <p:nvPr/>
        </p:nvSpPr>
        <p:spPr>
          <a:xfrm>
            <a:off x="1737360" y="1682496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tournament held in Uruguay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468880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7744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yrs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645920" y="2487168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6" name="Text 14"/>
          <p:cNvSpPr/>
          <p:nvPr/>
        </p:nvSpPr>
        <p:spPr>
          <a:xfrm>
            <a:off x="1737360" y="2377440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Played every four years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035808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163824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072384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645920" y="3182112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1" name="Text 19"/>
          <p:cNvSpPr/>
          <p:nvPr/>
        </p:nvSpPr>
        <p:spPr>
          <a:xfrm>
            <a:off x="1737360" y="3072384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Nations have ever won it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730752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858768"/>
            <a:ext cx="73152" cy="40233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76732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645920" y="3877056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6" name="Text 24"/>
          <p:cNvSpPr/>
          <p:nvPr/>
        </p:nvSpPr>
        <p:spPr>
          <a:xfrm>
            <a:off x="1737360" y="3767328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lift the FIFA World Cup trophy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0" y="1078992"/>
            <a:ext cx="3886200" cy="384048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8" name="Image 0" descr="/sessions/exciting-charming-faraday/mnt/wc26/WorldCupTroph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364" y="1115568"/>
            <a:ext cx="2633472" cy="35112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0" y="46268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World Cup Trophy · FIFA Museum, Zürich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Personal Note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78992"/>
            <a:ext cx="2621280" cy="3931920"/>
          </a:xfrm>
          <a:prstGeom prst="rect">
            <a:avLst/>
          </a:prstGeom>
          <a:solidFill>
            <a:srgbClr val="FFF8EE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78992"/>
            <a:ext cx="2621280" cy="17373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1986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7607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Fan since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6072" y="3319272"/>
            <a:ext cx="229209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Watching every game of every tournament since Maradona's Argentina.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61360" y="1078992"/>
            <a:ext cx="2621280" cy="39319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1360" y="1078992"/>
            <a:ext cx="2621280" cy="173736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2" name="Text 10"/>
          <p:cNvSpPr/>
          <p:nvPr/>
        </p:nvSpPr>
        <p:spPr>
          <a:xfrm>
            <a:off x="326136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 25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42595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Seeing it live — first time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5952" y="3319272"/>
            <a:ext cx="229209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5" name="Text 13"/>
          <p:cNvSpPr/>
          <p:nvPr/>
        </p:nvSpPr>
        <p:spPr>
          <a:xfrm>
            <a:off x="342595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Ivory Coast v Curaçao at the tournament.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11240" y="1078992"/>
            <a:ext cx="2621280" cy="3931920"/>
          </a:xfrm>
          <a:prstGeom prst="rect">
            <a:avLst/>
          </a:prstGeom>
          <a:solidFill>
            <a:srgbClr val="1B2A3A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11240" y="1078992"/>
            <a:ext cx="2621280" cy="1737360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18" name="Text 16"/>
          <p:cNvSpPr/>
          <p:nvPr/>
        </p:nvSpPr>
        <p:spPr>
          <a:xfrm>
            <a:off x="611124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Spain</a:t>
            </a:r>
            <a:endParaRPr lang="en-US" sz="6800" dirty="0"/>
          </a:p>
        </p:txBody>
      </p:sp>
      <p:sp>
        <p:nvSpPr>
          <p:cNvPr id="19" name="Text 17"/>
          <p:cNvSpPr/>
          <p:nvPr/>
        </p:nvSpPr>
        <p:spPr>
          <a:xfrm>
            <a:off x="627583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pick to win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5832" y="3319272"/>
            <a:ext cx="2292096" cy="18288"/>
          </a:xfrm>
          <a:prstGeom prst="rect">
            <a:avLst/>
          </a:prstGeom>
          <a:solidFill>
            <a:srgbClr val="2E4060"/>
          </a:solidFill>
          <a:ln/>
        </p:spPr>
      </p:sp>
      <p:sp>
        <p:nvSpPr>
          <p:cNvPr id="21" name="Text 19"/>
          <p:cNvSpPr/>
          <p:nvPr/>
        </p:nvSpPr>
        <p:spPr>
          <a:xfrm>
            <a:off x="627583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supporting the USA, any African team, and England. Maybe. Sorry, Brazil.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Famous World Cup Moments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42416"/>
            <a:ext cx="2633472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1966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79576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271016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Stolen Trophy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21208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Pickles the Dog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months before England hosted the World Cup, the Jules Rimet trophy was stolen from a public exhibition. A dog named Pickles found it wrapped in newspaper under a hedge on a routine walk.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 won the tournament. Pickles received a medal, a year's supply of dog food, and a film role.</a:t>
            </a:r>
            <a:endParaRPr lang="en-US" sz="1050" dirty="0"/>
          </a:p>
        </p:txBody>
      </p:sp>
      <p:sp>
        <p:nvSpPr>
          <p:cNvPr id="12" name="Text 10">
            <a:hlinkClick r:id="rId1" tooltip="Watch on YouTube"/>
          </p:cNvPr>
          <p:cNvSpPr/>
          <p:nvPr/>
        </p:nvSpPr>
        <p:spPr>
          <a:xfrm>
            <a:off x="521208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9836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59836" y="1042416"/>
            <a:ext cx="2633472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15" name="Text 13"/>
          <p:cNvSpPr/>
          <p:nvPr/>
        </p:nvSpPr>
        <p:spPr>
          <a:xfrm>
            <a:off x="3369564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1994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27932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119372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Open Goal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69564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Diana Ross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369564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0" name="Text 18"/>
          <p:cNvSpPr/>
          <p:nvPr/>
        </p:nvSpPr>
        <p:spPr>
          <a:xfrm>
            <a:off x="3369564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USA '94 opening ceremony featured Diana Ross taking a ceremonial penalty, with the goal rigged to split apart dramatically when she scored. She skied it wide from six yards.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split apart anyway — on cue — to a ball nowhere near it. BBC: "I'm not sure that was supposed to happen."</a:t>
            </a:r>
            <a:endParaRPr lang="en-US" sz="1050" dirty="0"/>
          </a:p>
        </p:txBody>
      </p:sp>
      <p:sp>
        <p:nvSpPr>
          <p:cNvPr id="21" name="Text 19">
            <a:hlinkClick r:id="rId2" tooltip="Watch on YouTube"/>
          </p:cNvPr>
          <p:cNvSpPr/>
          <p:nvPr/>
        </p:nvSpPr>
        <p:spPr>
          <a:xfrm>
            <a:off x="3369564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08192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08192" y="1042416"/>
            <a:ext cx="2633472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0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2010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76288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967728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Oracle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17920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Paul the Octopus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German aquarium octopus predicted World Cup results by choosing between two mussel-filled boxes marked with team flags. He went 8-for-8, correctly calling the final.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 received death threats, a state protection offer, and honorary citizenship from a Spanish town. He died peacefully four months later.</a:t>
            </a:r>
            <a:endParaRPr lang="en-US" sz="1050" dirty="0"/>
          </a:p>
        </p:txBody>
      </p:sp>
      <p:sp>
        <p:nvSpPr>
          <p:cNvPr id="30" name="Text 28">
            <a:hlinkClick r:id="rId3" tooltip="Watch on YouTube"/>
          </p:cNvPr>
          <p:cNvSpPr/>
          <p:nvPr/>
        </p:nvSpPr>
        <p:spPr>
          <a:xfrm>
            <a:off x="6217920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World's Greatest Sporting Event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206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594360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began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qualifying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87168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87168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1" name="Text 9"/>
          <p:cNvSpPr/>
          <p:nvPr/>
        </p:nvSpPr>
        <p:spPr>
          <a:xfrm>
            <a:off x="2487168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</a:t>
            </a:r>
            <a:endParaRPr lang="en-US" sz="5600" dirty="0"/>
          </a:p>
        </p:txBody>
      </p:sp>
      <p:sp>
        <p:nvSpPr>
          <p:cNvPr id="12" name="Shape 10"/>
          <p:cNvSpPr/>
          <p:nvPr/>
        </p:nvSpPr>
        <p:spPr>
          <a:xfrm>
            <a:off x="2670048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3" name="Text 11"/>
          <p:cNvSpPr/>
          <p:nvPr/>
        </p:nvSpPr>
        <p:spPr>
          <a:xfrm>
            <a:off x="2578608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tournament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62856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62856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6" name="Text 14"/>
          <p:cNvSpPr/>
          <p:nvPr/>
        </p:nvSpPr>
        <p:spPr>
          <a:xfrm>
            <a:off x="4562856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</a:t>
            </a:r>
            <a:endParaRPr lang="en-US" sz="5600" dirty="0"/>
          </a:p>
        </p:txBody>
      </p:sp>
      <p:sp>
        <p:nvSpPr>
          <p:cNvPr id="17" name="Shape 15"/>
          <p:cNvSpPr/>
          <p:nvPr/>
        </p:nvSpPr>
        <p:spPr>
          <a:xfrm>
            <a:off x="4745736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8" name="Text 16"/>
          <p:cNvSpPr/>
          <p:nvPr/>
        </p:nvSpPr>
        <p:spPr>
          <a:xfrm>
            <a:off x="4654296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played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38544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38544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6638544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5600" dirty="0"/>
          </a:p>
        </p:txBody>
      </p:sp>
      <p:sp>
        <p:nvSpPr>
          <p:cNvPr id="22" name="Shape 20"/>
          <p:cNvSpPr/>
          <p:nvPr/>
        </p:nvSpPr>
        <p:spPr>
          <a:xfrm>
            <a:off x="6821424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3" name="Text 21"/>
          <p:cNvSpPr/>
          <p:nvPr/>
        </p:nvSpPr>
        <p:spPr>
          <a:xfrm>
            <a:off x="6729984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football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42062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from 32 teams — more underdogs, more upsets, more surprises.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Qualified Nations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42416"/>
            <a:ext cx="8321040" cy="3863340"/>
          </a:xfrm>
          <a:prstGeom prst="rect">
            <a:avLst/>
          </a:prstGeom>
          <a:solidFill>
            <a:srgbClr val="EEF4F8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/sessions/exciting-charming-faraday/mnt/outputs/wc202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42416"/>
            <a:ext cx="832104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Group Stage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11 – Jun 27,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Points Are Earned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093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team plays 3 matches in their group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47672"/>
            <a:ext cx="3721608" cy="51206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9842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691640" y="207568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198424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pts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" y="2496312"/>
            <a:ext cx="3721608" cy="512064"/>
          </a:xfrm>
          <a:prstGeom prst="rect">
            <a:avLst/>
          </a:prstGeom>
          <a:solidFill>
            <a:srgbClr val="FFFBE8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3288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691640" y="262432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6" name="Text 14"/>
          <p:cNvSpPr/>
          <p:nvPr/>
        </p:nvSpPr>
        <p:spPr>
          <a:xfrm>
            <a:off x="1783080" y="253288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pt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2920" y="3044952"/>
            <a:ext cx="3721608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081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91640" y="317296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0" name="Text 18"/>
          <p:cNvSpPr/>
          <p:nvPr/>
        </p:nvSpPr>
        <p:spPr>
          <a:xfrm>
            <a:off x="1783080" y="308152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02920" y="3685032"/>
            <a:ext cx="3721608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7764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advances?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069080"/>
            <a:ext cx="54864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50792"/>
            <a:ext cx="3447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 from each group qualify directly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4416552"/>
            <a:ext cx="54864" cy="32918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398264"/>
            <a:ext cx="344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best 3rd-place teams (across all 12 groups) also advance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9" name="Text 27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Group Table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can also advance — see left card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36592" y="1929384"/>
            <a:ext cx="3593592" cy="310896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32" name="Text 30"/>
          <p:cNvSpPr/>
          <p:nvPr/>
        </p:nvSpPr>
        <p:spPr>
          <a:xfrm>
            <a:off x="4828032" y="194767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03720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60336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16952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73568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36592" y="2240280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36592" y="2240280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2258568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03720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260336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616952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73568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736592" y="2660904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2660904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6" name="Text 44"/>
          <p:cNvSpPr/>
          <p:nvPr/>
        </p:nvSpPr>
        <p:spPr>
          <a:xfrm>
            <a:off x="4828032" y="267919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903720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260336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16952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973568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36592" y="3081528"/>
            <a:ext cx="3593592" cy="420624"/>
          </a:xfrm>
          <a:prstGeom prst="rect">
            <a:avLst/>
          </a:prstGeom>
          <a:solidFill>
            <a:srgbClr val="FFF8EE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36592" y="3081528"/>
            <a:ext cx="36576" cy="42062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53" name="Text 51"/>
          <p:cNvSpPr/>
          <p:nvPr/>
        </p:nvSpPr>
        <p:spPr>
          <a:xfrm>
            <a:off x="4828032" y="309981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9037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260336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616952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973568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4736592" y="3502152"/>
            <a:ext cx="359359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3520440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903720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7260336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616952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973568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4736592" y="4050792"/>
            <a:ext cx="36576" cy="18288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5" name="Text 63"/>
          <p:cNvSpPr/>
          <p:nvPr/>
        </p:nvSpPr>
        <p:spPr>
          <a:xfrm>
            <a:off x="4828032" y="4050792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direct qualifier (top 2)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736592" y="4270248"/>
            <a:ext cx="36576" cy="18288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7" name="Text 65"/>
          <p:cNvSpPr/>
          <p:nvPr/>
        </p:nvSpPr>
        <p:spPr>
          <a:xfrm>
            <a:off x="4828032" y="4270248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3rd place, may qualify as one of 8 best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Knockout Stage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28 – Jul 19,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Bracket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teams · single-elimination · 5 rounds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084832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00253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00253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matches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459736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78608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24963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49631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matches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53512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072384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299008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Quarterfinal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299008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matches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447288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566160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483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34838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matches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41064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4059936"/>
            <a:ext cx="109728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39776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397764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434840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553712"/>
            <a:ext cx="109728" cy="21945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4714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447141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5" name="Text 33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a Match is Decided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draws allowed — there must be a winner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54880" y="1965960"/>
            <a:ext cx="3520440" cy="804672"/>
          </a:xfrm>
          <a:prstGeom prst="rect">
            <a:avLst/>
          </a:prstGeom>
          <a:solidFill>
            <a:srgbClr val="EBF9FF"/>
          </a:solidFill>
          <a:ln w="19050">
            <a:solidFill>
              <a:srgbClr val="009ED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28032" y="2185416"/>
            <a:ext cx="365760" cy="365760"/>
          </a:xfrm>
          <a:prstGeom prst="ellipse">
            <a:avLst/>
          </a:prstGeom>
          <a:solidFill>
            <a:srgbClr val="009EDF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03520" y="203911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Regular Time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303520" y="23682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minutes (2 × 45 min halves)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54880" y="2779776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54880" y="2935224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3154680"/>
            <a:ext cx="365760" cy="365760"/>
          </a:xfrm>
          <a:prstGeom prst="ellipse">
            <a:avLst/>
          </a:prstGeom>
          <a:solidFill>
            <a:srgbClr val="525F66"/>
          </a:solidFill>
          <a:ln/>
        </p:spPr>
      </p:sp>
      <p:sp>
        <p:nvSpPr>
          <p:cNvPr id="45" name="Text 43"/>
          <p:cNvSpPr/>
          <p:nvPr/>
        </p:nvSpPr>
        <p:spPr>
          <a:xfrm>
            <a:off x="4828032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303520" y="30083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Time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337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× 15 min extra periods if still tied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754880" y="3749040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754880" y="3904488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28032" y="4123944"/>
            <a:ext cx="365760" cy="365760"/>
          </a:xfrm>
          <a:prstGeom prst="ellipse">
            <a:avLst/>
          </a:prstGeom>
          <a:solidFill>
            <a:srgbClr val="999999"/>
          </a:solidFill>
          <a:ln/>
        </p:spPr>
      </p:sp>
      <p:sp>
        <p:nvSpPr>
          <p:cNvPr id="51" name="Text 49"/>
          <p:cNvSpPr/>
          <p:nvPr/>
        </p:nvSpPr>
        <p:spPr>
          <a:xfrm>
            <a:off x="4828032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303520" y="39776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Penalty Shootout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303520" y="43068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kicks each — sudden death if still tied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Bracket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78992"/>
            <a:ext cx="832104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78992"/>
            <a:ext cx="832104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152144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8-team bracket — showing from the Quarterfinals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Quarter-final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Semi-final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224942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4680" y="2999232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2249424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4680" y="3749040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54680" y="449884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3749040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328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7784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06440" y="2624328"/>
            <a:ext cx="0" cy="1499616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06440" y="3374136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196596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196596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160" y="196596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188720" y="222199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9" name="Shape 27"/>
          <p:cNvSpPr/>
          <p:nvPr/>
        </p:nvSpPr>
        <p:spPr>
          <a:xfrm>
            <a:off x="1188720" y="224942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80160" y="224942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France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188720" y="2715768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88720" y="2715768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3" name="Text 31"/>
          <p:cNvSpPr/>
          <p:nvPr/>
        </p:nvSpPr>
        <p:spPr>
          <a:xfrm>
            <a:off x="1280160" y="271576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88720" y="2971800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5" name="Shape 33"/>
          <p:cNvSpPr/>
          <p:nvPr/>
        </p:nvSpPr>
        <p:spPr>
          <a:xfrm>
            <a:off x="1188720" y="2999232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280160" y="29992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188720" y="3465576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88720" y="3465576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9" name="Text 37"/>
          <p:cNvSpPr/>
          <p:nvPr/>
        </p:nvSpPr>
        <p:spPr>
          <a:xfrm>
            <a:off x="1280160" y="346557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188720" y="3721608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88720" y="3749040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1280160" y="374904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188720" y="421538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88720" y="421538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5" name="Text 43"/>
          <p:cNvSpPr/>
          <p:nvPr/>
        </p:nvSpPr>
        <p:spPr>
          <a:xfrm>
            <a:off x="1280160" y="421538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188720" y="447141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7" name="Shape 45"/>
          <p:cNvSpPr/>
          <p:nvPr/>
        </p:nvSpPr>
        <p:spPr>
          <a:xfrm>
            <a:off x="1188720" y="449884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280160" y="449884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611880" y="234086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11880" y="234086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1" name="Text 49"/>
          <p:cNvSpPr/>
          <p:nvPr/>
        </p:nvSpPr>
        <p:spPr>
          <a:xfrm>
            <a:off x="3703320" y="234086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611880" y="259689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53" name="Shape 51"/>
          <p:cNvSpPr/>
          <p:nvPr/>
        </p:nvSpPr>
        <p:spPr>
          <a:xfrm>
            <a:off x="3611880" y="262432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703320" y="26243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611880" y="384048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11880" y="384048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7" name="Text 55"/>
          <p:cNvSpPr/>
          <p:nvPr/>
        </p:nvSpPr>
        <p:spPr>
          <a:xfrm>
            <a:off x="3703320" y="384048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611880" y="409651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1880" y="412394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3703320" y="412394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035040" y="3090672"/>
            <a:ext cx="196596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FF9E1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35040" y="3090672"/>
            <a:ext cx="196596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6126480" y="309067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035040" y="3346704"/>
            <a:ext cx="1965960" cy="2743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35040" y="3374136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0" y="337413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03504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Champion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Group Stage Picks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11,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722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722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1722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to pick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3756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 per correct pick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57900" y="1115568"/>
            <a:ext cx="2468880" cy="960120"/>
          </a:xfrm>
          <a:prstGeom prst="rect">
            <a:avLst/>
          </a:prstGeom>
          <a:solidFill>
            <a:srgbClr val="009ED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5790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144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5790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available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2768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pick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2596896"/>
            <a:ext cx="8321040" cy="1463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match, pick one: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3035808"/>
            <a:ext cx="2103120" cy="658368"/>
          </a:xfrm>
          <a:prstGeom prst="rect">
            <a:avLst/>
          </a:prstGeom>
          <a:solidFill>
            <a:srgbClr val="009EDF"/>
          </a:solidFill>
          <a:ln w="25400">
            <a:solidFill>
              <a:srgbClr val="009ED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14300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1 Win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Brazil wins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20440" y="3035808"/>
            <a:ext cx="2103120" cy="658368"/>
          </a:xfrm>
          <a:prstGeom prst="rect">
            <a:avLst/>
          </a:prstGeom>
          <a:solidFill>
            <a:srgbClr val="FFF8E6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2044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ends level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97880" y="3035808"/>
            <a:ext cx="2103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2 Win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89788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Germany wins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pts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28016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correct pick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8172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44068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3" name="Text 31"/>
          <p:cNvSpPr/>
          <p:nvPr/>
        </p:nvSpPr>
        <p:spPr>
          <a:xfrm>
            <a:off x="553212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wrong pick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Knockout Picks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28,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15568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Points by Round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increase each round — pick further, earn more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103120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395728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05456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4231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798064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07792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825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Quarter-final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00400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310128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2278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Semi-final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8" name="Text 26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pts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3602736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3712464"/>
            <a:ext cx="91440" cy="15544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3" name="Text 31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005072"/>
            <a:ext cx="3721608" cy="374904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5" name="Shape 33"/>
          <p:cNvSpPr/>
          <p:nvPr/>
        </p:nvSpPr>
        <p:spPr>
          <a:xfrm>
            <a:off x="548640" y="4114800"/>
            <a:ext cx="91440" cy="15544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325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8" name="Text 36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pts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4462272"/>
            <a:ext cx="3721608" cy="4389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44622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Max total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474720" y="446227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pts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572000" y="1115568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4" name="Text 42"/>
          <p:cNvSpPr/>
          <p:nvPr/>
        </p:nvSpPr>
        <p:spPr>
          <a:xfrm>
            <a:off x="473659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Cascade Rule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475488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knockout picks must survive to score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54880" y="1993392"/>
            <a:ext cx="3538728" cy="603504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8" name="Text 46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QF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394960" y="202996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394960" y="2313432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wins QF  ✓ scores 12 pts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4880" y="2606040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4880" y="2688336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54" name="Text 52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SF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94960" y="272491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394960" y="3008376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 ✗ scores 0 pts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3300984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54880" y="3383280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60" name="Text 58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394960" y="34198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5394960" y="3703320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already out — pick is void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754880" y="4133088"/>
            <a:ext cx="3538728" cy="658368"/>
          </a:xfrm>
          <a:prstGeom prst="rect">
            <a:avLst/>
          </a:prstGeom>
          <a:solidFill>
            <a:srgbClr val="FFF3E0"/>
          </a:solidFill>
          <a:ln w="19050">
            <a:solidFill>
              <a:srgbClr val="FF9E1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54880" y="4133088"/>
            <a:ext cx="54864" cy="65836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5" name="Text 63"/>
          <p:cNvSpPr/>
          <p:nvPr/>
        </p:nvSpPr>
        <p:spPr>
          <a:xfrm>
            <a:off x="4901184" y="41879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→ their Final pick scores 0. Picks only score if the team is still in.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fun.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of luck!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0" y="3520440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Men's 2026 World Cup · June 11 – July 19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Cup 2026 Pool</dc:title>
  <dc:subject>PptxGenJS Presentation</dc:subject>
  <dc:creator/>
  <cp:lastModifiedBy/>
  <cp:revision>1</cp:revision>
  <dcterms:created xsi:type="dcterms:W3CDTF">2026-06-01T00:12:45Z</dcterms:created>
  <dcterms:modified xsi:type="dcterms:W3CDTF">2026-06-01T00:12:45Z</dcterms:modified>
</cp:coreProperties>
</file>