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nxwAhTqy4y8" TargetMode="External"/><Relationship Id="rId2" Type="http://schemas.openxmlformats.org/officeDocument/2006/relationships/hyperlink" Target="https://www.youtube.com/watch?v=jdKKnClSWZg" TargetMode="External"/><Relationship Id="rId3" Type="http://schemas.openxmlformats.org/officeDocument/2006/relationships/hyperlink" Target="https://www.youtube.com/watch?v=pc0FLC8H7D8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9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00200"/>
            <a:ext cx="8229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2026 Men's FIFA World Cup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2697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474720" y="3328416"/>
            <a:ext cx="2194560" cy="64008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520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 11 – July 19, 2026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9776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 · Canada · Mexico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History of the World Cup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1078992"/>
            <a:ext cx="3886200" cy="384048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078992"/>
            <a:ext cx="3886200" cy="475488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8" name="Text 6"/>
          <p:cNvSpPr/>
          <p:nvPr/>
        </p:nvSpPr>
        <p:spPr>
          <a:xfrm>
            <a:off x="576072" y="11521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Facts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1645920"/>
            <a:ext cx="3721608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1773936"/>
            <a:ext cx="73152" cy="40233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682496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1930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645920" y="1792224"/>
            <a:ext cx="18288" cy="38404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13" name="Text 11"/>
          <p:cNvSpPr/>
          <p:nvPr/>
        </p:nvSpPr>
        <p:spPr>
          <a:xfrm>
            <a:off x="1737360" y="1682496"/>
            <a:ext cx="2395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tournament held in Uruguay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2340864"/>
            <a:ext cx="3721608" cy="658368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2468880"/>
            <a:ext cx="73152" cy="40233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377440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yrs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645920" y="2487168"/>
            <a:ext cx="18288" cy="38404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18" name="Text 16"/>
          <p:cNvSpPr/>
          <p:nvPr/>
        </p:nvSpPr>
        <p:spPr>
          <a:xfrm>
            <a:off x="1737360" y="2377440"/>
            <a:ext cx="2395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Played every four years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3035808"/>
            <a:ext cx="3721608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3163824"/>
            <a:ext cx="73152" cy="40233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072384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1645920" y="3182112"/>
            <a:ext cx="18288" cy="38404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23" name="Text 21"/>
          <p:cNvSpPr/>
          <p:nvPr/>
        </p:nvSpPr>
        <p:spPr>
          <a:xfrm>
            <a:off x="1737360" y="3072384"/>
            <a:ext cx="2395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Nations have ever won it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02920" y="3730752"/>
            <a:ext cx="3721608" cy="658368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3858768"/>
            <a:ext cx="73152" cy="402336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767328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9E1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★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645920" y="3877056"/>
            <a:ext cx="18288" cy="38404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28" name="Text 26"/>
          <p:cNvSpPr/>
          <p:nvPr/>
        </p:nvSpPr>
        <p:spPr>
          <a:xfrm>
            <a:off x="1737360" y="3767328"/>
            <a:ext cx="2395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Winners lift the FIFA World Cup trophy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572000" y="1078992"/>
            <a:ext cx="3886200" cy="384048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30" name="Image 0" descr="/sessions/exciting-charming-faraday/mnt/wc26/WorldCupTrophy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8364" y="1115568"/>
            <a:ext cx="2633472" cy="3511296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4572000" y="462686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CCC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FIFA World Cup Trophy · FIFA Museum, Zürich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Personal Note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1078992"/>
            <a:ext cx="2621280" cy="3931920"/>
          </a:xfrm>
          <a:prstGeom prst="rect">
            <a:avLst/>
          </a:prstGeom>
          <a:solidFill>
            <a:srgbClr val="FFF8EE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078992"/>
            <a:ext cx="2621280" cy="173736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078992"/>
            <a:ext cx="262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1986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576072" y="2962656"/>
            <a:ext cx="234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1E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Fan since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76072" y="3319272"/>
            <a:ext cx="2292096" cy="1828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11" name="Text 9"/>
          <p:cNvSpPr/>
          <p:nvPr/>
        </p:nvSpPr>
        <p:spPr>
          <a:xfrm>
            <a:off x="576072" y="3401568"/>
            <a:ext cx="23469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Watching every game of every tournament since Maradona's Argentina.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61360" y="1078992"/>
            <a:ext cx="2621280" cy="3931920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61360" y="1078992"/>
            <a:ext cx="2621280" cy="1737360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4" name="Text 12"/>
          <p:cNvSpPr/>
          <p:nvPr/>
        </p:nvSpPr>
        <p:spPr>
          <a:xfrm>
            <a:off x="3261360" y="1078992"/>
            <a:ext cx="262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 25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3425952" y="2962656"/>
            <a:ext cx="234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1E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Seeing it live — first time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25952" y="3319272"/>
            <a:ext cx="2292096" cy="1828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17" name="Text 15"/>
          <p:cNvSpPr/>
          <p:nvPr/>
        </p:nvSpPr>
        <p:spPr>
          <a:xfrm>
            <a:off x="3425952" y="3401568"/>
            <a:ext cx="23469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Ivory Coast v Curaçao at the tournament.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11240" y="1078992"/>
            <a:ext cx="2621280" cy="3931920"/>
          </a:xfrm>
          <a:prstGeom prst="rect">
            <a:avLst/>
          </a:prstGeom>
          <a:solidFill>
            <a:srgbClr val="1B2A3A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11240" y="1078992"/>
            <a:ext cx="2621280" cy="1737360"/>
          </a:xfrm>
          <a:prstGeom prst="rect">
            <a:avLst/>
          </a:prstGeom>
          <a:solidFill>
            <a:srgbClr val="131E27"/>
          </a:solidFill>
          <a:ln/>
        </p:spPr>
      </p:sp>
      <p:sp>
        <p:nvSpPr>
          <p:cNvPr id="20" name="Text 18"/>
          <p:cNvSpPr/>
          <p:nvPr/>
        </p:nvSpPr>
        <p:spPr>
          <a:xfrm>
            <a:off x="6111240" y="1078992"/>
            <a:ext cx="262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Spain</a:t>
            </a:r>
            <a:endParaRPr lang="en-US" sz="6800" dirty="0"/>
          </a:p>
        </p:txBody>
      </p:sp>
      <p:sp>
        <p:nvSpPr>
          <p:cNvPr id="21" name="Text 19"/>
          <p:cNvSpPr/>
          <p:nvPr/>
        </p:nvSpPr>
        <p:spPr>
          <a:xfrm>
            <a:off x="6275832" y="2962656"/>
            <a:ext cx="234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9E1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My pick to win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75832" y="3319272"/>
            <a:ext cx="2292096" cy="18288"/>
          </a:xfrm>
          <a:prstGeom prst="rect">
            <a:avLst/>
          </a:prstGeom>
          <a:solidFill>
            <a:srgbClr val="2E4060"/>
          </a:solidFill>
          <a:ln/>
        </p:spPr>
      </p:sp>
      <p:sp>
        <p:nvSpPr>
          <p:cNvPr id="23" name="Text 21"/>
          <p:cNvSpPr/>
          <p:nvPr/>
        </p:nvSpPr>
        <p:spPr>
          <a:xfrm>
            <a:off x="6275832" y="3401568"/>
            <a:ext cx="23469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 supporting the USA, any African team, and England. Maybe. Sorry, Brazil.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Famous World Cup Moments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1042416"/>
            <a:ext cx="2633472" cy="3767328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042416"/>
            <a:ext cx="2633472" cy="475488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" y="1106424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1966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179576" y="1179576"/>
            <a:ext cx="18288" cy="201168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1271016" y="1106424"/>
            <a:ext cx="1664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Stolen Trophy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21208" y="1554480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Pickles the Dog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21208" y="1883664"/>
            <a:ext cx="2414016" cy="1828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13" name="Text 11"/>
          <p:cNvSpPr/>
          <p:nvPr/>
        </p:nvSpPr>
        <p:spPr>
          <a:xfrm>
            <a:off x="521208" y="1938528"/>
            <a:ext cx="2414016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months before England hosted the World Cup, the Jules Rimet trophy was stolen from a public exhibition. A dog named Pickles found it wrapped in newspaper under a hedge on a routine walk.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England won the tournament. Pickles received a medal, a year's supply of dog food, and a film role.</a:t>
            </a:r>
            <a:endParaRPr lang="en-US" sz="1050" dirty="0"/>
          </a:p>
        </p:txBody>
      </p:sp>
      <p:sp>
        <p:nvSpPr>
          <p:cNvPr id="14" name="Text 12">
            <a:hlinkClick r:id="rId1" tooltip="Watch on YouTube"/>
          </p:cNvPr>
          <p:cNvSpPr/>
          <p:nvPr/>
        </p:nvSpPr>
        <p:spPr>
          <a:xfrm>
            <a:off x="521208" y="446227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009EDF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Watch on YouTub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YouTube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59836" y="1042416"/>
            <a:ext cx="2633472" cy="3767328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59836" y="1042416"/>
            <a:ext cx="2633472" cy="475488"/>
          </a:xfrm>
          <a:prstGeom prst="rect">
            <a:avLst/>
          </a:prstGeom>
          <a:solidFill>
            <a:srgbClr val="131E27"/>
          </a:solidFill>
          <a:ln/>
        </p:spPr>
      </p:sp>
      <p:sp>
        <p:nvSpPr>
          <p:cNvPr id="17" name="Text 15"/>
          <p:cNvSpPr/>
          <p:nvPr/>
        </p:nvSpPr>
        <p:spPr>
          <a:xfrm>
            <a:off x="3369564" y="1106424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1994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027932" y="1179576"/>
            <a:ext cx="18288" cy="201168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4119372" y="1106424"/>
            <a:ext cx="1664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Open Goal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369564" y="1554480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1E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Diana Ross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369564" y="1883664"/>
            <a:ext cx="2414016" cy="1828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22" name="Text 20"/>
          <p:cNvSpPr/>
          <p:nvPr/>
        </p:nvSpPr>
        <p:spPr>
          <a:xfrm>
            <a:off x="3369564" y="1938528"/>
            <a:ext cx="2414016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USA '94 opening ceremony featured Diana Ross taking a ceremonial penalty, with the goal rigged to split apart dramatically when she scored. She skied it wide from six yards.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goal split apart anyway — on cue — to a ball nowhere near it. BBC: "I'm not sure that was supposed to happen."</a:t>
            </a:r>
            <a:endParaRPr lang="en-US" sz="1050" dirty="0"/>
          </a:p>
        </p:txBody>
      </p:sp>
      <p:sp>
        <p:nvSpPr>
          <p:cNvPr id="23" name="Text 21">
            <a:hlinkClick r:id="rId2" tooltip="Watch on YouTube"/>
          </p:cNvPr>
          <p:cNvSpPr/>
          <p:nvPr/>
        </p:nvSpPr>
        <p:spPr>
          <a:xfrm>
            <a:off x="3369564" y="446227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009EDF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2" invalidUrl="" action="" tgtFrame="" tooltip="Watch on YouTub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YouTube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08192" y="1042416"/>
            <a:ext cx="2633472" cy="3767328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08192" y="1042416"/>
            <a:ext cx="2633472" cy="475488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0" y="1106424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2010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876288" y="1179576"/>
            <a:ext cx="18288" cy="201168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6967728" y="1106424"/>
            <a:ext cx="1664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Oracle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17920" y="1554480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9E1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Paul the Octopus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217920" y="1883664"/>
            <a:ext cx="2414016" cy="1828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31" name="Text 29"/>
          <p:cNvSpPr/>
          <p:nvPr/>
        </p:nvSpPr>
        <p:spPr>
          <a:xfrm>
            <a:off x="6217920" y="1938528"/>
            <a:ext cx="2414016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German aquarium octopus predicted World Cup results by choosing between two mussel-filled boxes marked with team flags. He went 8-for-8, correctly calling the final.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 received death threats, a state protection offer, and honorary citizenship from a Spanish town. He died peacefully four months later.</a:t>
            </a:r>
            <a:endParaRPr lang="en-US" sz="1050" dirty="0"/>
          </a:p>
        </p:txBody>
      </p:sp>
      <p:sp>
        <p:nvSpPr>
          <p:cNvPr id="32" name="Text 30">
            <a:hlinkClick r:id="rId3" tooltip="Watch on YouTube"/>
          </p:cNvPr>
          <p:cNvSpPr/>
          <p:nvPr/>
        </p:nvSpPr>
        <p:spPr>
          <a:xfrm>
            <a:off x="6217920" y="446227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009EDF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3" invalidUrl="" action="" tgtFrame="" tooltip="Watch on YouTub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YouTube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World's Greatest Sporting Event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1143000"/>
            <a:ext cx="1874520" cy="2377440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143000"/>
            <a:ext cx="1874520" cy="8229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32588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206</a:t>
            </a:r>
            <a:endParaRPr lang="en-US" sz="5600" dirty="0"/>
          </a:p>
        </p:txBody>
      </p:sp>
      <p:sp>
        <p:nvSpPr>
          <p:cNvPr id="9" name="Shape 7"/>
          <p:cNvSpPr/>
          <p:nvPr/>
        </p:nvSpPr>
        <p:spPr>
          <a:xfrm>
            <a:off x="594360" y="2606040"/>
            <a:ext cx="15087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697480"/>
            <a:ext cx="1691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began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qualifying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87168" y="1143000"/>
            <a:ext cx="1874520" cy="2377440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487168" y="1143000"/>
            <a:ext cx="1874520" cy="8229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3" name="Text 11"/>
          <p:cNvSpPr/>
          <p:nvPr/>
        </p:nvSpPr>
        <p:spPr>
          <a:xfrm>
            <a:off x="2487168" y="132588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</a:t>
            </a:r>
            <a:endParaRPr lang="en-US" sz="5600" dirty="0"/>
          </a:p>
        </p:txBody>
      </p:sp>
      <p:sp>
        <p:nvSpPr>
          <p:cNvPr id="14" name="Shape 12"/>
          <p:cNvSpPr/>
          <p:nvPr/>
        </p:nvSpPr>
        <p:spPr>
          <a:xfrm>
            <a:off x="2670048" y="2606040"/>
            <a:ext cx="15087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15" name="Text 13"/>
          <p:cNvSpPr/>
          <p:nvPr/>
        </p:nvSpPr>
        <p:spPr>
          <a:xfrm>
            <a:off x="2578608" y="2697480"/>
            <a:ext cx="1691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in the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final tournament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62856" y="1143000"/>
            <a:ext cx="1874520" cy="2377440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62856" y="1143000"/>
            <a:ext cx="1874520" cy="8229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8" name="Text 16"/>
          <p:cNvSpPr/>
          <p:nvPr/>
        </p:nvSpPr>
        <p:spPr>
          <a:xfrm>
            <a:off x="4562856" y="132588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104</a:t>
            </a:r>
            <a:endParaRPr lang="en-US" sz="5600" dirty="0"/>
          </a:p>
        </p:txBody>
      </p:sp>
      <p:sp>
        <p:nvSpPr>
          <p:cNvPr id="19" name="Shape 17"/>
          <p:cNvSpPr/>
          <p:nvPr/>
        </p:nvSpPr>
        <p:spPr>
          <a:xfrm>
            <a:off x="4745736" y="2606040"/>
            <a:ext cx="15087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20" name="Text 18"/>
          <p:cNvSpPr/>
          <p:nvPr/>
        </p:nvSpPr>
        <p:spPr>
          <a:xfrm>
            <a:off x="4654296" y="2697480"/>
            <a:ext cx="1691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played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638544" y="1143000"/>
            <a:ext cx="1874520" cy="2377440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38544" y="1143000"/>
            <a:ext cx="1874520" cy="8229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3" name="Text 21"/>
          <p:cNvSpPr/>
          <p:nvPr/>
        </p:nvSpPr>
        <p:spPr>
          <a:xfrm>
            <a:off x="6638544" y="132588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</a:t>
            </a:r>
            <a:endParaRPr lang="en-US" sz="5600" dirty="0"/>
          </a:p>
        </p:txBody>
      </p:sp>
      <p:sp>
        <p:nvSpPr>
          <p:cNvPr id="24" name="Shape 22"/>
          <p:cNvSpPr/>
          <p:nvPr/>
        </p:nvSpPr>
        <p:spPr>
          <a:xfrm>
            <a:off x="6821424" y="2606040"/>
            <a:ext cx="15087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25" name="Text 23"/>
          <p:cNvSpPr/>
          <p:nvPr/>
        </p:nvSpPr>
        <p:spPr>
          <a:xfrm>
            <a:off x="6729984" y="2697480"/>
            <a:ext cx="1691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days of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football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11480" y="4206240"/>
            <a:ext cx="8321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from 32 teams — more underdogs, more upsets, more surprises.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 Qualified Nations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1042416"/>
            <a:ext cx="8321040" cy="3863340"/>
          </a:xfrm>
          <a:prstGeom prst="rect">
            <a:avLst/>
          </a:prstGeom>
          <a:solidFill>
            <a:srgbClr val="EEF4F8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7" name="Image 0" descr="/sessions/exciting-charming-faraday/mnt/outputs/wc2026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42416"/>
            <a:ext cx="8321040" cy="38633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Group Stage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 11 – Jun 27, 2026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078992"/>
            <a:ext cx="3886200" cy="374904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078992"/>
            <a:ext cx="3886200" cy="475488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9" name="Text 7"/>
          <p:cNvSpPr/>
          <p:nvPr/>
        </p:nvSpPr>
        <p:spPr>
          <a:xfrm>
            <a:off x="576072" y="11521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Points Are Earned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160934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team plays 3 matches in their group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1947672"/>
            <a:ext cx="3721608" cy="512064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198424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691640" y="2075688"/>
            <a:ext cx="27432" cy="274320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14" name="Text 12"/>
          <p:cNvSpPr/>
          <p:nvPr/>
        </p:nvSpPr>
        <p:spPr>
          <a:xfrm>
            <a:off x="1783080" y="1984248"/>
            <a:ext cx="2350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pts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721608" cy="512064"/>
          </a:xfrm>
          <a:prstGeom prst="rect">
            <a:avLst/>
          </a:prstGeom>
          <a:solidFill>
            <a:srgbClr val="FFFBE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253288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Draw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691640" y="2624328"/>
            <a:ext cx="27432" cy="274320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18" name="Text 16"/>
          <p:cNvSpPr/>
          <p:nvPr/>
        </p:nvSpPr>
        <p:spPr>
          <a:xfrm>
            <a:off x="1783080" y="2532888"/>
            <a:ext cx="2350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A6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pt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02920" y="3044952"/>
            <a:ext cx="3721608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308152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9999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691640" y="3172968"/>
            <a:ext cx="27432" cy="274320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22" name="Text 20"/>
          <p:cNvSpPr/>
          <p:nvPr/>
        </p:nvSpPr>
        <p:spPr>
          <a:xfrm>
            <a:off x="1783080" y="3081528"/>
            <a:ext cx="2350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9999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 pts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02920" y="3685032"/>
            <a:ext cx="3721608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377647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1E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advances?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94360" y="4069080"/>
            <a:ext cx="54864" cy="25603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050792"/>
            <a:ext cx="3447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2 from each group qualify directly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94360" y="4416552"/>
            <a:ext cx="54864" cy="329184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4398264"/>
            <a:ext cx="3447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best 3rd-place teams (across all 12 groups) also advance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0" y="1078992"/>
            <a:ext cx="3886200" cy="374904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572000" y="1078992"/>
            <a:ext cx="3886200" cy="475488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1" name="Text 29"/>
          <p:cNvSpPr/>
          <p:nvPr/>
        </p:nvSpPr>
        <p:spPr>
          <a:xfrm>
            <a:off x="4736592" y="11521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Example Group Table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754880" y="1600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place can also advance — see left card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736592" y="1929384"/>
            <a:ext cx="3593592" cy="310896"/>
          </a:xfrm>
          <a:prstGeom prst="rect">
            <a:avLst/>
          </a:prstGeom>
          <a:solidFill>
            <a:srgbClr val="131E27"/>
          </a:solidFill>
          <a:ln/>
        </p:spPr>
      </p:sp>
      <p:sp>
        <p:nvSpPr>
          <p:cNvPr id="34" name="Text 32"/>
          <p:cNvSpPr/>
          <p:nvPr/>
        </p:nvSpPr>
        <p:spPr>
          <a:xfrm>
            <a:off x="4828032" y="1947672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03720" y="19476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260336" y="19476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616952" y="19476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973568" y="19476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Pts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736592" y="2240280"/>
            <a:ext cx="3593592" cy="420624"/>
          </a:xfrm>
          <a:prstGeom prst="rect">
            <a:avLst/>
          </a:prstGeom>
          <a:solidFill>
            <a:srgbClr val="EBF9FF"/>
          </a:solidFill>
          <a:ln w="6350">
            <a:solidFill>
              <a:srgbClr val="CCECF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36592" y="2240280"/>
            <a:ext cx="36576" cy="420624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2258568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Spain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903720" y="2258568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260336" y="2258568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616952" y="2258568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973568" y="2258568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736592" y="2660904"/>
            <a:ext cx="3593592" cy="420624"/>
          </a:xfrm>
          <a:prstGeom prst="rect">
            <a:avLst/>
          </a:prstGeom>
          <a:solidFill>
            <a:srgbClr val="EBF9FF"/>
          </a:solidFill>
          <a:ln w="6350">
            <a:solidFill>
              <a:srgbClr val="CCECF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736592" y="2660904"/>
            <a:ext cx="36576" cy="420624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8" name="Text 46"/>
          <p:cNvSpPr/>
          <p:nvPr/>
        </p:nvSpPr>
        <p:spPr>
          <a:xfrm>
            <a:off x="4828032" y="2679192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Germany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6903720" y="2679192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7260336" y="2679192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7616952" y="2679192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973568" y="2679192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4736592" y="3081528"/>
            <a:ext cx="3593592" cy="420624"/>
          </a:xfrm>
          <a:prstGeom prst="rect">
            <a:avLst/>
          </a:prstGeom>
          <a:solidFill>
            <a:srgbClr val="FFF8EE"/>
          </a:solidFill>
          <a:ln w="6350">
            <a:solidFill>
              <a:srgbClr val="CCECF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736592" y="3081528"/>
            <a:ext cx="36576" cy="420624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55" name="Text 53"/>
          <p:cNvSpPr/>
          <p:nvPr/>
        </p:nvSpPr>
        <p:spPr>
          <a:xfrm>
            <a:off x="4828032" y="3099816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6903720" y="3099816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7260336" y="3099816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7616952" y="3099816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7973568" y="3099816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9E1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4736592" y="3502152"/>
            <a:ext cx="359359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CCECF9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28032" y="3520440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Morocco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6903720" y="35204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260336" y="35204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7616952" y="35204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7973568" y="35204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25F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4736592" y="4050792"/>
            <a:ext cx="36576" cy="182880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67" name="Text 65"/>
          <p:cNvSpPr/>
          <p:nvPr/>
        </p:nvSpPr>
        <p:spPr>
          <a:xfrm>
            <a:off x="4828032" y="4050792"/>
            <a:ext cx="3483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 direct qualifier (top 2)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4736592" y="4270248"/>
            <a:ext cx="36576" cy="18288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69" name="Text 67"/>
          <p:cNvSpPr/>
          <p:nvPr/>
        </p:nvSpPr>
        <p:spPr>
          <a:xfrm>
            <a:off x="4828032" y="4270248"/>
            <a:ext cx="3483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 3rd place, may qualify as one of 8 best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Knockout Stage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 28 – Jul 19, 2026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078992"/>
            <a:ext cx="3886200" cy="393192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078992"/>
            <a:ext cx="3886200" cy="475488"/>
          </a:xfrm>
          <a:prstGeom prst="rect">
            <a:avLst/>
          </a:prstGeom>
          <a:solidFill>
            <a:srgbClr val="131E27"/>
          </a:solidFill>
          <a:ln/>
        </p:spPr>
      </p:sp>
      <p:sp>
        <p:nvSpPr>
          <p:cNvPr id="9" name="Text 7"/>
          <p:cNvSpPr/>
          <p:nvPr/>
        </p:nvSpPr>
        <p:spPr>
          <a:xfrm>
            <a:off x="576072" y="11521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Bracket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16002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teams · single-elimination · 5 rounds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1965960"/>
            <a:ext cx="3721608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084832"/>
            <a:ext cx="109728" cy="21945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200253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Round of 32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200253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matches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459736"/>
            <a:ext cx="3721608" cy="457200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578608"/>
            <a:ext cx="109728" cy="21945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249631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Round of 16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249631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matches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2953512"/>
            <a:ext cx="3721608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3072384"/>
            <a:ext cx="109728" cy="21945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2990088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Quarterfinal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" y="299008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matches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" y="3447288"/>
            <a:ext cx="3721608" cy="457200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3566160"/>
            <a:ext cx="109728" cy="21945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5" name="Text 23"/>
          <p:cNvSpPr/>
          <p:nvPr/>
        </p:nvSpPr>
        <p:spPr>
          <a:xfrm>
            <a:off x="749808" y="348386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Semifinal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348386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matches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3941064"/>
            <a:ext cx="3721608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4059936"/>
            <a:ext cx="109728" cy="219456"/>
          </a:xfrm>
          <a:prstGeom prst="rect">
            <a:avLst/>
          </a:prstGeom>
          <a:solidFill>
            <a:srgbClr val="AAAAAA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397764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Place (SF losers)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2920" y="397764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match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02920" y="4434840"/>
            <a:ext cx="3721608" cy="457200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32" name="Shape 30"/>
          <p:cNvSpPr/>
          <p:nvPr/>
        </p:nvSpPr>
        <p:spPr>
          <a:xfrm>
            <a:off x="548640" y="4553712"/>
            <a:ext cx="109728" cy="219456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44714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9E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Final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2920" y="447141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match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0" y="1078992"/>
            <a:ext cx="3886200" cy="393192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572000" y="1078992"/>
            <a:ext cx="3886200" cy="475488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37" name="Text 35"/>
          <p:cNvSpPr/>
          <p:nvPr/>
        </p:nvSpPr>
        <p:spPr>
          <a:xfrm>
            <a:off x="4736592" y="11521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a Match is Decided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4754880" y="1600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draws allowed — there must be a winner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754880" y="1965960"/>
            <a:ext cx="3520440" cy="804672"/>
          </a:xfrm>
          <a:prstGeom prst="rect">
            <a:avLst/>
          </a:prstGeom>
          <a:solidFill>
            <a:srgbClr val="EBF9FF"/>
          </a:solidFill>
          <a:ln w="19050">
            <a:solidFill>
              <a:srgbClr val="009ED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28032" y="2185416"/>
            <a:ext cx="365760" cy="365760"/>
          </a:xfrm>
          <a:prstGeom prst="ellipse">
            <a:avLst/>
          </a:prstGeom>
          <a:solidFill>
            <a:srgbClr val="009EDF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5303520" y="203911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Regular Time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303520" y="236829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 minutes (2 × 45 min halves)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754880" y="2779776"/>
            <a:ext cx="3520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tied →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754880" y="2935224"/>
            <a:ext cx="35204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CECF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28032" y="3154680"/>
            <a:ext cx="365760" cy="365760"/>
          </a:xfrm>
          <a:prstGeom prst="ellipse">
            <a:avLst/>
          </a:prstGeom>
          <a:solidFill>
            <a:srgbClr val="525F66"/>
          </a:solidFill>
          <a:ln/>
        </p:spPr>
      </p:sp>
      <p:sp>
        <p:nvSpPr>
          <p:cNvPr id="47" name="Text 45"/>
          <p:cNvSpPr/>
          <p:nvPr/>
        </p:nvSpPr>
        <p:spPr>
          <a:xfrm>
            <a:off x="4828032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5303520" y="300837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1E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Extra Time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5303520" y="333756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× 15 min extra periods if still tied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754880" y="3749040"/>
            <a:ext cx="3520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tied →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754880" y="3904488"/>
            <a:ext cx="35204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CECF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828032" y="4123944"/>
            <a:ext cx="365760" cy="365760"/>
          </a:xfrm>
          <a:prstGeom prst="ellipse">
            <a:avLst/>
          </a:prstGeom>
          <a:solidFill>
            <a:srgbClr val="999999"/>
          </a:solidFill>
          <a:ln/>
        </p:spPr>
      </p:sp>
      <p:sp>
        <p:nvSpPr>
          <p:cNvPr id="53" name="Text 51"/>
          <p:cNvSpPr/>
          <p:nvPr/>
        </p:nvSpPr>
        <p:spPr>
          <a:xfrm>
            <a:off x="4828032" y="41239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5303520" y="39776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1E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Penalty Shootout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5303520" y="430682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kicks each — sudden death if still tied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Example Bracket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1078992"/>
            <a:ext cx="8321040" cy="374904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078992"/>
            <a:ext cx="8321040" cy="475488"/>
          </a:xfrm>
          <a:prstGeom prst="rect">
            <a:avLst/>
          </a:prstGeom>
          <a:solidFill>
            <a:srgbClr val="131E27"/>
          </a:solidFill>
          <a:ln/>
        </p:spPr>
      </p:sp>
      <p:sp>
        <p:nvSpPr>
          <p:cNvPr id="8" name="Text 6"/>
          <p:cNvSpPr/>
          <p:nvPr/>
        </p:nvSpPr>
        <p:spPr>
          <a:xfrm>
            <a:off x="576072" y="1152144"/>
            <a:ext cx="8092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8-team bracket — showing from the Quarterfinals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188720" y="1627632"/>
            <a:ext cx="1965960" cy="256032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10" name="Text 8"/>
          <p:cNvSpPr/>
          <p:nvPr/>
        </p:nvSpPr>
        <p:spPr>
          <a:xfrm>
            <a:off x="1188720" y="162763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Quarter-final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11880" y="1627632"/>
            <a:ext cx="1965960" cy="256032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162763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Semi-final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627632"/>
            <a:ext cx="1965960" cy="256032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14" name="Text 12"/>
          <p:cNvSpPr/>
          <p:nvPr/>
        </p:nvSpPr>
        <p:spPr>
          <a:xfrm>
            <a:off x="6035040" y="162763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E1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154680" y="2249424"/>
            <a:ext cx="228600" cy="0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54680" y="2999232"/>
            <a:ext cx="228600" cy="0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83280" y="2249424"/>
            <a:ext cx="0" cy="749808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83280" y="2624328"/>
            <a:ext cx="228600" cy="0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54680" y="3749040"/>
            <a:ext cx="228600" cy="0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54680" y="4498848"/>
            <a:ext cx="228600" cy="0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83280" y="3749040"/>
            <a:ext cx="0" cy="749808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3280" y="4123944"/>
            <a:ext cx="228600" cy="0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77840" y="2624328"/>
            <a:ext cx="228600" cy="0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77840" y="4123944"/>
            <a:ext cx="228600" cy="0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06440" y="2624328"/>
            <a:ext cx="0" cy="1499616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06440" y="3374136"/>
            <a:ext cx="228600" cy="0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8720" y="1965960"/>
            <a:ext cx="196596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CCECF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" y="1965960"/>
            <a:ext cx="1965960" cy="25603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9" name="Text 27"/>
          <p:cNvSpPr/>
          <p:nvPr/>
        </p:nvSpPr>
        <p:spPr>
          <a:xfrm>
            <a:off x="1280160" y="1965960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Spain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188720" y="2221992"/>
            <a:ext cx="19659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31" name="Shape 29"/>
          <p:cNvSpPr/>
          <p:nvPr/>
        </p:nvSpPr>
        <p:spPr>
          <a:xfrm>
            <a:off x="1188720" y="2249424"/>
            <a:ext cx="196596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280160" y="2249424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BBB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France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1188720" y="2715768"/>
            <a:ext cx="196596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CCECF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88720" y="2715768"/>
            <a:ext cx="1965960" cy="25603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35" name="Text 33"/>
          <p:cNvSpPr/>
          <p:nvPr/>
        </p:nvSpPr>
        <p:spPr>
          <a:xfrm>
            <a:off x="1280160" y="2715768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Germany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188720" y="2971800"/>
            <a:ext cx="19659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37" name="Shape 35"/>
          <p:cNvSpPr/>
          <p:nvPr/>
        </p:nvSpPr>
        <p:spPr>
          <a:xfrm>
            <a:off x="1188720" y="2999232"/>
            <a:ext cx="196596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1280160" y="2999232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BBB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England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188720" y="3465576"/>
            <a:ext cx="196596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CCECF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88720" y="3465576"/>
            <a:ext cx="1965960" cy="25603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1" name="Text 39"/>
          <p:cNvSpPr/>
          <p:nvPr/>
        </p:nvSpPr>
        <p:spPr>
          <a:xfrm>
            <a:off x="1280160" y="3465576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Argentina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188720" y="3721608"/>
            <a:ext cx="19659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43" name="Shape 41"/>
          <p:cNvSpPr/>
          <p:nvPr/>
        </p:nvSpPr>
        <p:spPr>
          <a:xfrm>
            <a:off x="1188720" y="3749040"/>
            <a:ext cx="196596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1280160" y="3749040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BBB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Brazil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1188720" y="4215384"/>
            <a:ext cx="196596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CCECF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188720" y="4215384"/>
            <a:ext cx="1965960" cy="25603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7" name="Text 45"/>
          <p:cNvSpPr/>
          <p:nvPr/>
        </p:nvSpPr>
        <p:spPr>
          <a:xfrm>
            <a:off x="1280160" y="4215384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1188720" y="4471416"/>
            <a:ext cx="19659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49" name="Shape 47"/>
          <p:cNvSpPr/>
          <p:nvPr/>
        </p:nvSpPr>
        <p:spPr>
          <a:xfrm>
            <a:off x="1188720" y="4498848"/>
            <a:ext cx="196596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1280160" y="4498848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BBB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Morocco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3611880" y="2340864"/>
            <a:ext cx="196596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CCECF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611880" y="2340864"/>
            <a:ext cx="1965960" cy="25603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53" name="Text 51"/>
          <p:cNvSpPr/>
          <p:nvPr/>
        </p:nvSpPr>
        <p:spPr>
          <a:xfrm>
            <a:off x="3703320" y="2340864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Spain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3611880" y="2596896"/>
            <a:ext cx="19659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55" name="Shape 53"/>
          <p:cNvSpPr/>
          <p:nvPr/>
        </p:nvSpPr>
        <p:spPr>
          <a:xfrm>
            <a:off x="3611880" y="2624328"/>
            <a:ext cx="196596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703320" y="2624328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BBB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Germany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3611880" y="3840480"/>
            <a:ext cx="196596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CCECF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611880" y="3840480"/>
            <a:ext cx="1965960" cy="25603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59" name="Text 57"/>
          <p:cNvSpPr/>
          <p:nvPr/>
        </p:nvSpPr>
        <p:spPr>
          <a:xfrm>
            <a:off x="3703320" y="3840480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Argentina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3611880" y="4096512"/>
            <a:ext cx="19659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61" name="Shape 59"/>
          <p:cNvSpPr/>
          <p:nvPr/>
        </p:nvSpPr>
        <p:spPr>
          <a:xfrm>
            <a:off x="3611880" y="4123944"/>
            <a:ext cx="196596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3703320" y="4123944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BBB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6035040" y="3090672"/>
            <a:ext cx="196596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FF9E1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035040" y="3090672"/>
            <a:ext cx="196596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/>
          <p:nvPr/>
        </p:nvSpPr>
        <p:spPr>
          <a:xfrm>
            <a:off x="6126480" y="3090672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Spain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6035040" y="3346704"/>
            <a:ext cx="1965960" cy="27432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67" name="Shape 65"/>
          <p:cNvSpPr/>
          <p:nvPr/>
        </p:nvSpPr>
        <p:spPr>
          <a:xfrm>
            <a:off x="6035040" y="3374136"/>
            <a:ext cx="196596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6126480" y="3374136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Argentina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6035040" y="3730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9E1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Champion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Pool: Group Stage Picks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Due: Jun 11, 2026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" y="1115568"/>
            <a:ext cx="2468880" cy="960120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17220" y="11704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72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617220" y="16916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matches to pick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37560" y="1115568"/>
            <a:ext cx="2468880" cy="960120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37560" y="11704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337560" y="16916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 per correct pick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57900" y="1115568"/>
            <a:ext cx="2468880" cy="960120"/>
          </a:xfrm>
          <a:prstGeom prst="rect">
            <a:avLst/>
          </a:prstGeom>
          <a:solidFill>
            <a:srgbClr val="009EDF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57900" y="11704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144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057900" y="16916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points available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227685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1E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you pick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1480" y="2596896"/>
            <a:ext cx="8321040" cy="146304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2724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each match, pick one: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43000" y="3035808"/>
            <a:ext cx="2103120" cy="658368"/>
          </a:xfrm>
          <a:prstGeom prst="rect">
            <a:avLst/>
          </a:prstGeom>
          <a:solidFill>
            <a:srgbClr val="009EDF"/>
          </a:solidFill>
          <a:ln w="25400">
            <a:solidFill>
              <a:srgbClr val="009EDF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143000" y="309067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1 Win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43000" y="340156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e.g. Brazil wins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20440" y="3035808"/>
            <a:ext cx="2103120" cy="658368"/>
          </a:xfrm>
          <a:prstGeom prst="rect">
            <a:avLst/>
          </a:prstGeom>
          <a:solidFill>
            <a:srgbClr val="FFF8E6"/>
          </a:solidFill>
          <a:ln w="12700">
            <a:solidFill>
              <a:srgbClr val="CCECF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20440" y="309067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6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520440" y="340156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 ends level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97880" y="3035808"/>
            <a:ext cx="21031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ECF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97880" y="309067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25F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2 Win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897880" y="340156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e.g. Germany wins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11480" y="4261104"/>
            <a:ext cx="4069080" cy="658368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1208" y="4261104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pts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1280160" y="4398264"/>
            <a:ext cx="18288" cy="38404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31" name="Text 29"/>
          <p:cNvSpPr/>
          <p:nvPr/>
        </p:nvSpPr>
        <p:spPr>
          <a:xfrm>
            <a:off x="1371600" y="4261104"/>
            <a:ext cx="3044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each correct pick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0" y="4261104"/>
            <a:ext cx="4069080" cy="658368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81728" y="4261104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 pts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440680" y="4398264"/>
            <a:ext cx="18288" cy="38404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35" name="Text 33"/>
          <p:cNvSpPr/>
          <p:nvPr/>
        </p:nvSpPr>
        <p:spPr>
          <a:xfrm>
            <a:off x="5532120" y="4261104"/>
            <a:ext cx="3044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a wrong pick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Pool: Knockout Picks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Due: Jun 28, 2026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3886200" cy="388620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115568"/>
            <a:ext cx="3886200" cy="475488"/>
          </a:xfrm>
          <a:prstGeom prst="rect">
            <a:avLst/>
          </a:prstGeom>
          <a:solidFill>
            <a:srgbClr val="131E27"/>
          </a:solidFill>
          <a:ln/>
        </p:spPr>
      </p:sp>
      <p:sp>
        <p:nvSpPr>
          <p:cNvPr id="9" name="Text 7"/>
          <p:cNvSpPr/>
          <p:nvPr/>
        </p:nvSpPr>
        <p:spPr>
          <a:xfrm>
            <a:off x="576072" y="11887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Points by Round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16459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Points increase each round — pick further, earn more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1993392"/>
            <a:ext cx="3721608" cy="374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103120"/>
            <a:ext cx="91440" cy="155448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Round of 32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474720" y="2075688"/>
            <a:ext cx="713232" cy="21031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5" name="Text 13"/>
          <p:cNvSpPr/>
          <p:nvPr/>
        </p:nvSpPr>
        <p:spPr>
          <a:xfrm>
            <a:off x="3474720" y="2075688"/>
            <a:ext cx="7132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pts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395728"/>
            <a:ext cx="3721608" cy="374904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2505456"/>
            <a:ext cx="91440" cy="155448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42316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Round of 16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74720" y="2478024"/>
            <a:ext cx="713232" cy="21031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0" name="Text 18"/>
          <p:cNvSpPr/>
          <p:nvPr/>
        </p:nvSpPr>
        <p:spPr>
          <a:xfrm>
            <a:off x="3474720" y="2478024"/>
            <a:ext cx="7132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pts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2798064"/>
            <a:ext cx="3721608" cy="374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2907792"/>
            <a:ext cx="91440" cy="155448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282549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Quarter-final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474720" y="2880360"/>
            <a:ext cx="713232" cy="21031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5" name="Text 23"/>
          <p:cNvSpPr/>
          <p:nvPr/>
        </p:nvSpPr>
        <p:spPr>
          <a:xfrm>
            <a:off x="3474720" y="2880360"/>
            <a:ext cx="7132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pts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3200400"/>
            <a:ext cx="3721608" cy="374904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310128"/>
            <a:ext cx="91440" cy="155448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32278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Semi-final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474720" y="3282696"/>
            <a:ext cx="713232" cy="21031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30" name="Text 28"/>
          <p:cNvSpPr/>
          <p:nvPr/>
        </p:nvSpPr>
        <p:spPr>
          <a:xfrm>
            <a:off x="3474720" y="3282696"/>
            <a:ext cx="7132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 pts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02920" y="3602736"/>
            <a:ext cx="3721608" cy="374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548640" y="3712464"/>
            <a:ext cx="91440" cy="155448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363016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Place (SF losers)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74720" y="3685032"/>
            <a:ext cx="713232" cy="21031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35" name="Text 33"/>
          <p:cNvSpPr/>
          <p:nvPr/>
        </p:nvSpPr>
        <p:spPr>
          <a:xfrm>
            <a:off x="3474720" y="3685032"/>
            <a:ext cx="7132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pts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4005072"/>
            <a:ext cx="3721608" cy="374904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37" name="Shape 35"/>
          <p:cNvSpPr/>
          <p:nvPr/>
        </p:nvSpPr>
        <p:spPr>
          <a:xfrm>
            <a:off x="548640" y="4114800"/>
            <a:ext cx="91440" cy="155448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8" name="Text 36"/>
          <p:cNvSpPr/>
          <p:nvPr/>
        </p:nvSpPr>
        <p:spPr>
          <a:xfrm>
            <a:off x="731520" y="403250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E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Final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474720" y="4087368"/>
            <a:ext cx="713232" cy="210312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40" name="Text 38"/>
          <p:cNvSpPr/>
          <p:nvPr/>
        </p:nvSpPr>
        <p:spPr>
          <a:xfrm>
            <a:off x="3474720" y="4087368"/>
            <a:ext cx="7132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pts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02920" y="4462272"/>
            <a:ext cx="3721608" cy="43891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2" name="Text 40"/>
          <p:cNvSpPr/>
          <p:nvPr/>
        </p:nvSpPr>
        <p:spPr>
          <a:xfrm>
            <a:off x="731520" y="4462272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Max total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474720" y="4462272"/>
            <a:ext cx="7132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pts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572000" y="1115568"/>
            <a:ext cx="3886200" cy="388620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572000" y="1115568"/>
            <a:ext cx="3886200" cy="475488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46" name="Text 44"/>
          <p:cNvSpPr/>
          <p:nvPr/>
        </p:nvSpPr>
        <p:spPr>
          <a:xfrm>
            <a:off x="4736592" y="11887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Cascade Rule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475488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knockout picks must survive to score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754880" y="1993392"/>
            <a:ext cx="3538728" cy="603504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828032" y="2103120"/>
            <a:ext cx="475488" cy="25603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50" name="Text 48"/>
          <p:cNvSpPr/>
          <p:nvPr/>
        </p:nvSpPr>
        <p:spPr>
          <a:xfrm>
            <a:off x="4828032" y="2103120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QF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0" y="2029968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Pick: Brazil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394960" y="2313432"/>
            <a:ext cx="2807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Brazil wins QF  ✓ scores 12 pts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754880" y="2606040"/>
            <a:ext cx="3538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754880" y="2688336"/>
            <a:ext cx="3538728" cy="603504"/>
          </a:xfrm>
          <a:prstGeom prst="rect">
            <a:avLst/>
          </a:prstGeom>
          <a:solidFill>
            <a:srgbClr val="FFF0F0"/>
          </a:solidFill>
          <a:ln w="12700">
            <a:solidFill>
              <a:srgbClr val="F4A7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828032" y="2798064"/>
            <a:ext cx="475488" cy="256032"/>
          </a:xfrm>
          <a:prstGeom prst="rect">
            <a:avLst/>
          </a:prstGeom>
          <a:solidFill>
            <a:srgbClr val="E05050"/>
          </a:solidFill>
          <a:ln/>
        </p:spPr>
      </p:sp>
      <p:sp>
        <p:nvSpPr>
          <p:cNvPr id="56" name="Text 54"/>
          <p:cNvSpPr/>
          <p:nvPr/>
        </p:nvSpPr>
        <p:spPr>
          <a:xfrm>
            <a:off x="4828032" y="2798064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SF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394960" y="2724912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C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Pick: Brazil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5394960" y="3008376"/>
            <a:ext cx="2807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C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Brazil LOSES SF  ✗ scores 0 pts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754880" y="3300984"/>
            <a:ext cx="3538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754880" y="3383280"/>
            <a:ext cx="3538728" cy="603504"/>
          </a:xfrm>
          <a:prstGeom prst="rect">
            <a:avLst/>
          </a:prstGeom>
          <a:solidFill>
            <a:srgbClr val="FFF0F0"/>
          </a:solidFill>
          <a:ln w="12700">
            <a:solidFill>
              <a:srgbClr val="F4A7A7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28032" y="3493008"/>
            <a:ext cx="475488" cy="256032"/>
          </a:xfrm>
          <a:prstGeom prst="rect">
            <a:avLst/>
          </a:prstGeom>
          <a:solidFill>
            <a:srgbClr val="E05050"/>
          </a:solidFill>
          <a:ln/>
        </p:spPr>
      </p:sp>
      <p:sp>
        <p:nvSpPr>
          <p:cNvPr id="62" name="Text 60"/>
          <p:cNvSpPr/>
          <p:nvPr/>
        </p:nvSpPr>
        <p:spPr>
          <a:xfrm>
            <a:off x="4828032" y="349300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Final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394960" y="3419856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C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Pick: Brazil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5394960" y="3703320"/>
            <a:ext cx="2807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C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Brazil already out — pick is void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4754880" y="4133088"/>
            <a:ext cx="3538728" cy="658368"/>
          </a:xfrm>
          <a:prstGeom prst="rect">
            <a:avLst/>
          </a:prstGeom>
          <a:solidFill>
            <a:srgbClr val="FFF3E0"/>
          </a:solidFill>
          <a:ln w="19050">
            <a:solidFill>
              <a:srgbClr val="FF9E1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754880" y="4133088"/>
            <a:ext cx="54864" cy="658368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67" name="Text 65"/>
          <p:cNvSpPr/>
          <p:nvPr/>
        </p:nvSpPr>
        <p:spPr>
          <a:xfrm>
            <a:off x="4901184" y="418795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Brazil loses SF → their Final pick scores 0. Picks only score if the team is still in.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9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0020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Have fun.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25146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Best of luck!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474720" y="3520440"/>
            <a:ext cx="2194560" cy="64008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FIFA Men's 2026 World Cup · June 11 – July 19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World Cup 2026 Pool</dc:title>
  <dc:subject>PptxGenJS Presentation</dc:subject>
  <dc:creator/>
  <cp:lastModifiedBy/>
  <cp:revision>1</cp:revision>
  <dcterms:created xsi:type="dcterms:W3CDTF">2026-05-31T23:26:34Z</dcterms:created>
  <dcterms:modified xsi:type="dcterms:W3CDTF">2026-05-31T23:26:34Z</dcterms:modified>
</cp:coreProperties>
</file>